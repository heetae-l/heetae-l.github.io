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f348cd1e2b4a99" /><Relationship Type="http://schemas.openxmlformats.org/officeDocument/2006/relationships/extended-properties" Target="/docProps/app.xml" Id="R6a01f845f35d448e" /><Relationship Type="http://schemas.openxmlformats.org/officeDocument/2006/relationships/officeDocument" Target="/ppt/presentation.xml" Id="Rd8cfa70520954a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9f1845044c49af"/>
  </p:sldMasterIdLst>
  <p:notesMasterIdLst>
    <p:notesMasterId xmlns:r="http://schemas.openxmlformats.org/officeDocument/2006/relationships" r:id="R14cb300cc2e248ce"/>
  </p:notesMasterIdLst>
  <p:sldIdLst>
    <p:sldId xmlns:r="http://schemas.openxmlformats.org/officeDocument/2006/relationships" id="256" r:id="R99f759b12bb34dab"/>
    <p:sldId xmlns:r="http://schemas.openxmlformats.org/officeDocument/2006/relationships" id="257" r:id="R6f9bedcf2b4c4d97"/>
    <p:sldId xmlns:r="http://schemas.openxmlformats.org/officeDocument/2006/relationships" id="258" r:id="Rf745a889b6694c4f"/>
    <p:sldId xmlns:r="http://schemas.openxmlformats.org/officeDocument/2006/relationships" id="259" r:id="R45e4afbafdf14345"/>
    <p:sldId xmlns:r="http://schemas.openxmlformats.org/officeDocument/2006/relationships" id="260" r:id="R812f076eabd74cb2"/>
    <p:sldId xmlns:r="http://schemas.openxmlformats.org/officeDocument/2006/relationships" id="261" r:id="R83794da97dbd47f7"/>
    <p:sldId xmlns:r="http://schemas.openxmlformats.org/officeDocument/2006/relationships" id="262" r:id="Rea1d4e60db334e9c"/>
    <p:sldId xmlns:r="http://schemas.openxmlformats.org/officeDocument/2006/relationships" id="263" r:id="R2fbaab35a1ab4bb6"/>
    <p:sldId xmlns:r="http://schemas.openxmlformats.org/officeDocument/2006/relationships" id="264" r:id="R97e17d6f8cb24a6f"/>
    <p:sldId xmlns:r="http://schemas.openxmlformats.org/officeDocument/2006/relationships" id="265" r:id="R68f363d7e2c74c7c"/>
    <p:sldId xmlns:r="http://schemas.openxmlformats.org/officeDocument/2006/relationships" id="266" r:id="R2038e9d87f53496a"/>
    <p:sldId xmlns:r="http://schemas.openxmlformats.org/officeDocument/2006/relationships" id="267" r:id="R35d05efa9fda43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03ba1259744287" /><Relationship Type="http://schemas.openxmlformats.org/officeDocument/2006/relationships/slideMaster" Target="/ppt/slideMasters/slideMaster1.xml" Id="R519f1845044c49af" /><Relationship Type="http://schemas.openxmlformats.org/officeDocument/2006/relationships/notesMaster" Target="/ppt/notesMasters/notesMaster1.xml" Id="R14cb300cc2e248ce" /><Relationship Type="http://schemas.openxmlformats.org/officeDocument/2006/relationships/presProps" Target="/ppt/presProps.xml" Id="R3467cf9e02ac4800" /><Relationship Type="http://schemas.openxmlformats.org/officeDocument/2006/relationships/tableStyles" Target="/ppt/tableStyles.xml" Id="R0ce10e3998564feb" /><Relationship Type="http://schemas.openxmlformats.org/officeDocument/2006/relationships/slide" Target="/ppt/slides/slide1.xml" Id="R99f759b12bb34dab" /><Relationship Type="http://schemas.openxmlformats.org/officeDocument/2006/relationships/slide" Target="/ppt/slides/slide2.xml" Id="R6f9bedcf2b4c4d97" /><Relationship Type="http://schemas.openxmlformats.org/officeDocument/2006/relationships/slide" Target="/ppt/slides/slide3.xml" Id="Rf745a889b6694c4f" /><Relationship Type="http://schemas.openxmlformats.org/officeDocument/2006/relationships/slide" Target="/ppt/slides/slide4.xml" Id="R45e4afbafdf14345" /><Relationship Type="http://schemas.openxmlformats.org/officeDocument/2006/relationships/slide" Target="/ppt/slides/slide5.xml" Id="R812f076eabd74cb2" /><Relationship Type="http://schemas.openxmlformats.org/officeDocument/2006/relationships/slide" Target="/ppt/slides/slide6.xml" Id="R83794da97dbd47f7" /><Relationship Type="http://schemas.openxmlformats.org/officeDocument/2006/relationships/slide" Target="/ppt/slides/slide7.xml" Id="Rea1d4e60db334e9c" /><Relationship Type="http://schemas.openxmlformats.org/officeDocument/2006/relationships/slide" Target="/ppt/slides/slide8.xml" Id="R2fbaab35a1ab4bb6" /><Relationship Type="http://schemas.openxmlformats.org/officeDocument/2006/relationships/slide" Target="/ppt/slides/slide9.xml" Id="R97e17d6f8cb24a6f" /><Relationship Type="http://schemas.openxmlformats.org/officeDocument/2006/relationships/slide" Target="/ppt/slides/slide10.xml" Id="R68f363d7e2c74c7c" /><Relationship Type="http://schemas.openxmlformats.org/officeDocument/2006/relationships/slide" Target="/ppt/slides/slide11.xml" Id="R2038e9d87f53496a" /><Relationship Type="http://schemas.openxmlformats.org/officeDocument/2006/relationships/slide" Target="/ppt/slides/slide12.xml" Id="R35d05efa9fda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cf95bc6eb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fceb81458c479d" /><Relationship Type="http://schemas.openxmlformats.org/officeDocument/2006/relationships/notesMaster" Target="/ppt/notesMasters/notesMaster1.xml" Id="R66f3b1742e8f49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1215c8c30b4823" /><Relationship Type="http://schemas.openxmlformats.org/officeDocument/2006/relationships/notesMaster" Target="/ppt/notesMasters/notesMaster1.xml" Id="R277b280bf5d2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b9de856ff941d2" /><Relationship Type="http://schemas.openxmlformats.org/officeDocument/2006/relationships/notesMaster" Target="/ppt/notesMasters/notesMaster1.xml" Id="Re3b2a91d1f6a4c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a9189693f3463a" /><Relationship Type="http://schemas.openxmlformats.org/officeDocument/2006/relationships/notesMaster" Target="/ppt/notesMasters/notesMaster1.xml" Id="Ra13aacbd70474b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4604a16f574d91" /><Relationship Type="http://schemas.openxmlformats.org/officeDocument/2006/relationships/notesMaster" Target="/ppt/notesMasters/notesMaster1.xml" Id="Rf947ea6095734e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e913bb01714b5f" /><Relationship Type="http://schemas.openxmlformats.org/officeDocument/2006/relationships/notesMaster" Target="/ppt/notesMasters/notesMaster1.xml" Id="R1c53a808e1b9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34c496bd34c56" /><Relationship Type="http://schemas.openxmlformats.org/officeDocument/2006/relationships/notesMaster" Target="/ppt/notesMasters/notesMaster1.xml" Id="R043678015500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d48b0413494266" /><Relationship Type="http://schemas.openxmlformats.org/officeDocument/2006/relationships/notesMaster" Target="/ppt/notesMasters/notesMaster1.xml" Id="Rd2945e5394764e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7c617ccf6f41bc" /><Relationship Type="http://schemas.openxmlformats.org/officeDocument/2006/relationships/notesMaster" Target="/ppt/notesMasters/notesMaster1.xml" Id="R56ec754fffa64a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39515801254830" /><Relationship Type="http://schemas.openxmlformats.org/officeDocument/2006/relationships/notesMaster" Target="/ppt/notesMasters/notesMaster1.xml" Id="R501f4c0252b140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2562a2f9564bee" /><Relationship Type="http://schemas.openxmlformats.org/officeDocument/2006/relationships/notesMaster" Target="/ppt/notesMasters/notesMaster1.xml" Id="R81ec4a3f065b42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cd90d6a2c543f0" /><Relationship Type="http://schemas.openxmlformats.org/officeDocument/2006/relationships/notesMaster" Target="/ppt/notesMasters/notesMaster1.xml" Id="Rfc3243731deb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9066c73e743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94a9e54094802" /><Relationship Type="http://schemas.openxmlformats.org/officeDocument/2006/relationships/slideLayout" Target="/ppt/slideLayouts/slideLayout1.xml" Id="R23964740dc5b40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964740dc5b40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393587d3f4f6e" /><Relationship Type="http://schemas.openxmlformats.org/officeDocument/2006/relationships/notesSlide" Target="/ppt/notesSlides/notesSlide1.xml" Id="R5c077661749e4d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4ed133a2e4039" /><Relationship Type="http://schemas.openxmlformats.org/officeDocument/2006/relationships/notesSlide" Target="/ppt/notesSlides/notesSlide2.xml" Id="R61f9b2eea5db46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55b4a31da4020" /><Relationship Type="http://schemas.openxmlformats.org/officeDocument/2006/relationships/notesSlide" Target="/ppt/notesSlides/notesSlide3.xml" Id="R3286bf310571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0d878ea3a4013" /><Relationship Type="http://schemas.openxmlformats.org/officeDocument/2006/relationships/notesSlide" Target="/ppt/notesSlides/notesSlide4.xml" Id="R41add2add97341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47bef4270421b" /><Relationship Type="http://schemas.openxmlformats.org/officeDocument/2006/relationships/notesSlide" Target="/ppt/notesSlides/notesSlide5.xml" Id="Rb3ac787354bb43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f5cf5c51b4263" /><Relationship Type="http://schemas.openxmlformats.org/officeDocument/2006/relationships/notesSlide" Target="/ppt/notesSlides/notesSlide6.xml" Id="Ra42e159dae6f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9ca8b381d45b6" /><Relationship Type="http://schemas.openxmlformats.org/officeDocument/2006/relationships/notesSlide" Target="/ppt/notesSlides/notesSlide7.xml" Id="R4b3a711d972349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8cb0baf85468d" /><Relationship Type="http://schemas.openxmlformats.org/officeDocument/2006/relationships/notesSlide" Target="/ppt/notesSlides/notesSlide8.xml" Id="R6a51c135fb3446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9b002e5084b81" /><Relationship Type="http://schemas.openxmlformats.org/officeDocument/2006/relationships/image" Target="/ppt/media/image.jpeg" Id="R95908e3c1fbc47b8" /><Relationship Type="http://schemas.openxmlformats.org/officeDocument/2006/relationships/image" Target="/ppt/media/image2.jpeg" Id="Rfa6fc767862f4b51" /><Relationship Type="http://schemas.openxmlformats.org/officeDocument/2006/relationships/image" Target="/ppt/media/image3.jpeg" Id="R369332e2e1fa4b44" /><Relationship Type="http://schemas.openxmlformats.org/officeDocument/2006/relationships/notesSlide" Target="/ppt/notesSlides/notesSlide9.xml" Id="R1e881ab7cc7e45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6869766d7434d" /><Relationship Type="http://schemas.openxmlformats.org/officeDocument/2006/relationships/notesSlide" Target="/ppt/notesSlides/notesSlide10.xml" Id="R195ef6097a9449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cf990888b41a6" /><Relationship Type="http://schemas.openxmlformats.org/officeDocument/2006/relationships/notesSlide" Target="/ppt/notesSlides/notesSlide11.xml" Id="R6563a993bb6849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81993f1a342e2" /><Relationship Type="http://schemas.openxmlformats.org/officeDocument/2006/relationships/notesSlide" Target="/ppt/notesSlides/notesSlide12.xml" Id="Rf33ac569893a41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D5E6B-D2F6-4811-B171-4EC91868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C222C-F6D5-4196-A7FC-F14CED93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PORTFOLIO  / 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6B5E5-97E9-447B-A390-11DDA56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676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21722"/>
                </a:solidFill>
              </a:defRPr>
            </a:pPr>
            <a:r>
              <a:rPr sz="4350" b="1" i="0">
                <a:solidFill>
                  <a:srgbClr val="121722"/>
                </a:solidFill>
              </a:rPr>
              <a:t>Heetae Lee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573DF-F9F5-4DD1-9CB1-4B828934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157FF"/>
                </a:solidFill>
              </a:defRPr>
            </a:pPr>
            <a:r>
              <a:rPr sz="2550" b="1" i="0">
                <a:solidFill>
                  <a:srgbClr val="3157FF"/>
                </a:solidFill>
              </a:rPr>
              <a:t>Software Engineer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31802-8BAF-46CD-83EB-3CE8413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B6472"/>
                </a:solidFill>
              </a:defRPr>
            </a:pPr>
            <a:r>
              <a:rPr sz="1725" b="0" i="0">
                <a:solidFill>
                  <a:srgbClr val="5B6472"/>
                </a:solidFill>
              </a:rPr>
              <a:t>복지·여행 커머스의 API, 배치, DB,</a:t>
            </a:r>
          </a:p>
          <a:p xmlns:a="http://schemas.openxmlformats.org/drawingml/2006/main">
            <a:pPr algn="l">
              <a:defRPr sz="1725" b="0" i="0">
                <a:solidFill>
                  <a:srgbClr val="5B6472"/>
                </a:solidFill>
              </a:defRPr>
            </a:pPr>
            <a:r>
              <a:rPr sz="1725" b="0" i="0">
                <a:solidFill>
                  <a:srgbClr val="5B6472"/>
                </a:solidFill>
              </a:rPr>
              <a:t>외부 연동 개발·운영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C384-6098-40C3-9D42-5619927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9F6E5-EFE6-4D45-813B-23C89ABC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AA3B2"/>
                </a:solidFill>
              </a:defRPr>
            </a:pPr>
            <a:r>
              <a:rPr sz="975" b="1" i="0">
                <a:solidFill>
                  <a:srgbClr val="9AA3B2"/>
                </a:solidFill>
              </a:rPr>
              <a:t>5+ YEARS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E09C4-7E74-416E-BC1A-2DEF07D4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AA3B2"/>
                </a:solidFill>
              </a:defRPr>
            </a:pPr>
            <a:r>
              <a:rPr sz="975" b="1" i="0">
                <a:solidFill>
                  <a:srgbClr val="9AA3B2"/>
                </a:solidFill>
              </a:rPr>
              <a:t>JAVA / SPRING BOOT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35547-9436-4C1F-926C-91EC55E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AA3B2"/>
                </a:solidFill>
              </a:defRPr>
            </a:pPr>
            <a:r>
              <a:rPr sz="975" b="1" i="0">
                <a:solidFill>
                  <a:srgbClr val="9AA3B2"/>
                </a:solidFill>
              </a:rPr>
              <a:t>BACKEND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D8150-9D4F-4867-81FB-5B51796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21722"/>
                </a:solidFill>
              </a:defRPr>
            </a:pPr>
            <a:r>
              <a:rPr sz="1050" b="0" i="0">
                <a:solidFill>
                  <a:srgbClr val="121722"/>
                </a:solidFill>
              </a:rPr>
              <a:t>https://heetae-l.github.io/ko/portfolio/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5C9CA-3A69-4A5A-9568-D6F986E7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415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0DA12-7CCE-4812-A1E3-6C3C568E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993A7"/>
                </a:solidFill>
              </a:defRPr>
            </a:pPr>
            <a:r>
              <a:rPr sz="900" b="1" i="0">
                <a:solidFill>
                  <a:srgbClr val="8993A7"/>
                </a:solidFill>
              </a:rPr>
              <a:t>SERVICE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817D6-77A8-492F-B4D5-84CD613D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B8255-9F94-4188-87C6-D5882AB1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14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FD117-DE92-42D0-AB5D-9AE00503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76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6C5"/>
                </a:solidFill>
              </a:defRPr>
            </a:pPr>
            <a:r>
              <a:rPr sz="1050" b="0" i="0">
                <a:solidFill>
                  <a:srgbClr val="AEB6C5"/>
                </a:solidFill>
              </a:rPr>
              <a:t>서비스와 외부 시스템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4F7E2-927C-471B-B52A-A1309E7A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FF77F-AB1C-47FB-A961-D5BD8FF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290BF-9FD1-43D2-816B-FF957D87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BATCH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6ABAD-E572-4C4F-AE62-9F287FE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6C5"/>
                </a:solidFill>
              </a:defRPr>
            </a:pPr>
            <a:r>
              <a:rPr sz="1050" b="0" i="0">
                <a:solidFill>
                  <a:srgbClr val="AEB6C5"/>
                </a:solidFill>
              </a:rPr>
              <a:t>정기 수집과 후처리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B9A3B-75A1-4488-AD48-5DB945B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0D74E-7439-4B67-AF72-9A177B90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F1160-93E7-4994-8B48-9C710A08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523CD-3064-4609-A6FB-5A568201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6C5"/>
                </a:solidFill>
              </a:defRPr>
            </a:pPr>
            <a:r>
              <a:rPr sz="1050" b="0" i="0">
                <a:solidFill>
                  <a:srgbClr val="AEB6C5"/>
                </a:solidFill>
              </a:rPr>
              <a:t>Oracle · SQL · Redis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3424C-BFC0-443C-B32B-675843B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3DAD4-B5DE-49AB-B4E5-C5A782F3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CB18B-F89E-45B0-9ACD-7A3D45E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29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90DFF-46B2-4C99-A9E5-E43AB758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91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6C5"/>
                </a:solidFill>
              </a:defRPr>
            </a:pPr>
            <a:r>
              <a:rPr sz="1050" b="0" i="0">
                <a:solidFill>
                  <a:srgbClr val="AEB6C5"/>
                </a:solidFill>
              </a:rPr>
              <a:t>배포 · 로그 · 검증</a:t>
            </a:r>
          </a:p>
        </p:txBody>
      </p:sp>
    </p:spTree>
    <p:extLst>
      <p:ext uri="{BB962C8B-B14F-4D97-AF65-F5344CB8AC3E}">
        <p14:creationId xmlns:p14="http://schemas.microsoft.com/office/powerpoint/2010/main" val="291607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B8BDB-AA3B-4839-9ADD-2A0608A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04863-6C4D-41A0-8577-F9FC4C0E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4F2DD-0AED-4DCB-97FE-170379F1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0FCD3-BE3E-40FD-9C3A-5198BDA5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서비스 전체 흐름을 고려한 백엔드 개발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20764-E3AA-4B0C-8146-0A840C0B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화면 단위를 넘어 API, 데이터, 배치, 운영 영향까지 연결한 구현 경험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958A8-BFE7-4737-A5E5-C93CDEA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8791D-4B4A-4454-ABB7-0E764CCE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1722"/>
                </a:solidFill>
              </a:defRPr>
            </a:pPr>
            <a:r>
              <a:rPr sz="1650" b="1" i="0">
                <a:solidFill>
                  <a:srgbClr val="121722"/>
                </a:solidFill>
              </a:rPr>
              <a:t>5+ Years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5B568-7E95-4F7F-A3BF-1368F0FA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52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9F7A"/>
                </a:solidFill>
              </a:defRPr>
            </a:pPr>
            <a:r>
              <a:rPr sz="825" b="1" i="0">
                <a:solidFill>
                  <a:srgbClr val="0F9F7A"/>
                </a:solidFill>
              </a:rPr>
              <a:t>PRIMARY 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399CC-DF0C-4A4E-A5CF-79E7DEE0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1722"/>
                </a:solidFill>
              </a:defRPr>
            </a:pPr>
            <a:r>
              <a:rPr sz="1650" b="1" i="0">
                <a:solidFill>
                  <a:srgbClr val="121722"/>
                </a:solidFill>
              </a:rPr>
              <a:t>복지·여행 커머스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8D671-4601-441F-8B43-19ECA0FC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E6A5F"/>
                </a:solidFill>
              </a:defRPr>
            </a:pPr>
            <a:r>
              <a:rPr sz="825" b="1" i="0">
                <a:solidFill>
                  <a:srgbClr val="EE6A5F"/>
                </a:solidFill>
              </a:rPr>
              <a:t>CURRENT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2793B-BA50-4C7B-9097-4F4DD25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1722"/>
                </a:solidFill>
              </a:defRPr>
            </a:pPr>
            <a:r>
              <a:rPr sz="1650" b="1" i="0">
                <a:solidFill>
                  <a:srgbClr val="121722"/>
                </a:solidFill>
              </a:rPr>
              <a:t>API · Batch · DB ·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FFA12-D194-4CAF-9FD6-435180AE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D013E-D51F-4E87-B47C-3304479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3CD90-9E59-4DE4-9B9E-EDFCC08E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외부 연동의 입력부터 서비스 노출까지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229F1-2451-4A87-898F-FDA55FE3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FCE1C-CC87-4B67-8D1C-2AA6E53D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화면·API·DB·배치가 같은 데이터 기준을 보도록 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66E45-6663-4F6B-B34B-4A25C07E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B8026-3BFE-42FD-8280-17DA593B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신규 기술도 실행·배포·관측 기준까지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9FC7F-007F-4DC1-BE63-253FA883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9720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3D400-05A6-44BB-BDBE-36E3B60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WORKING RANGE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6EF7C-1B68-4086-B53D-C5430F9D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29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52212-4CCE-4FCC-A33E-37B6A6C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4B872-20EB-4FD7-BE91-1E9D1E4C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62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2309A-D316-43C8-9AE3-99249EC1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1949F-603F-430D-B5B1-D42EEC25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소프트웨어학 학사  ·  정보처리기사  ·  SQLD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65FEB-BC57-4C0D-9B03-97A33222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41172-EED6-4C71-9931-4F1541A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D74CF-6EDC-4C3B-BC06-5D64BA9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8462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FF4822-6BB1-4475-8728-4A00BDDA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6EE6-6360-41B0-8DC1-6043DAC9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AC49A-0EC9-4116-A412-49B455BE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CAREER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1269F-447C-4554-A981-A1A98440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사내 시스템에서 외부 연동 플랫폼으로 확장된 책임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BF588-1623-4B1E-9E7C-FB702D89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두 회사의 개발 경력과 SK M&amp;Service 내 주요 서비스·프로젝트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AB473-AE5C-4449-9388-7E50DBFC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93454-FE63-41E7-BF13-0690692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SK M&amp;Service / 주요 업무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927FC-4819-4706-BF5F-09DAD6FB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D918-E1CE-4BD3-8DEF-756E58B5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683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571F3-EE70-469B-AA64-56E6EBF9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19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6AC80-3482-432D-A3D0-D53CA699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2"/>
                </a:solidFill>
              </a:defRPr>
            </a:pPr>
            <a:r>
              <a:rPr sz="900" b="1" i="0">
                <a:solidFill>
                  <a:srgbClr val="9AA3B2"/>
                </a:solidFill>
              </a:rPr>
              <a:t>2020.11 - 2021.06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654A5-ACCA-43DD-8849-0EB6E8C5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한성기업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0EBDC-1C25-4A79-8B7F-730FDA0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7FF"/>
                </a:solidFill>
              </a:defRPr>
            </a:pPr>
            <a:r>
              <a:rPr sz="1125" b="1" i="0">
                <a:solidFill>
                  <a:srgbClr val="3157FF"/>
                </a:solidFill>
              </a:rPr>
              <a:t>Software Engineer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DAF9C-4857-48EF-B066-942C6D2A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물류·주문 관련 사내 업무 웹 시스템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00FB3-9A55-491E-B439-A499A318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519D6-2F9D-40D4-AA9C-F6655C9F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2021.12 - Present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F3AA0-7792-4455-A017-0D0BB41C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SK M&amp;Service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AF2EC-CA2F-4782-A632-73B2A35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7FF"/>
                </a:solidFill>
              </a:defRPr>
            </a:pPr>
            <a:r>
              <a:rPr sz="1125" b="1" i="0">
                <a:solidFill>
                  <a:srgbClr val="3157FF"/>
                </a:solidFill>
              </a:rPr>
              <a:t>Software Engineer · 복지·여행 커머스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D3E29-6D29-41F4-BDCA-14B8431E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05DB6-C9FA-4D85-A6F4-72815C42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47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2022.02 - 2024.03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9E87A-3A3B-426B-B92E-68EA6AA9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19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Benepia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1697C-B14A-4733-BAB6-F39FF012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384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고객사별 복지 커머스 기능·보안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8E571-DB7F-49E7-AF3A-63B01B10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385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AE692-4F2A-4526-B1DC-A862D631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FB6F6-CA92-4EF5-A736-BF32AFAD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E6A5F"/>
                </a:solidFill>
              </a:defRPr>
            </a:pPr>
            <a:r>
              <a:rPr sz="825" b="1" i="0">
                <a:solidFill>
                  <a:srgbClr val="EE6A5F"/>
                </a:solidFill>
              </a:rPr>
              <a:t>2023 · TF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C5415-E525-4113-8CB1-29BBB03C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385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여행 AI Q&amp;A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522D5-C9F2-4D14-8681-E4F347D3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575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Python/Flask API·운영 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84C79E-3EF1-4CB9-9A57-4F7B5DC0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576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D3BB2-6EC8-413A-B73A-631F12B5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8E302-4666-4948-B226-2E3841E6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86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9F7A"/>
                </a:solidFill>
              </a:defRPr>
            </a:pPr>
            <a:r>
              <a:rPr sz="825" b="1" i="0">
                <a:solidFill>
                  <a:srgbClr val="0F9F7A"/>
                </a:solidFill>
              </a:rPr>
              <a:t>2024.04 - Present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56A5A3-D6E4-4A55-825B-10992B74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한국관광공사 휴가샵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EA5119-CBA0-4599-B4BD-EAB0D8D9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767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사용자·운영·포인트·통계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5C1910-4609-4BF3-915B-4B369D42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768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7CC1D-C739-4CE9-BFFC-9B74D9DC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515BB2-BC06-4DCC-9AD1-6822CFE2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05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2025 - Present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C8E97D-A719-4735-B18B-D294B689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76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여행·레저 제휴 연동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DB5B5-11AC-4243-88C5-BF67E0A8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95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주문·상품·검색·온보딩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7ED84A-D57E-42F4-9008-D6B67F6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B145A6-D754-4866-A355-DD62719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544FFB-5816-4DFD-9387-C5D5007F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9328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6EC847-94D3-4BEE-B66A-F77E6E3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70EBC-37B0-4BF0-8A44-9B6E459F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B8382-6510-4910-8389-B1A88AC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TECHNICAL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8FA3C-D530-49B4-B981-16801FE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Java/Spring Boot 기반, 데이터와 운영 중심의 개발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9A1B2-2693-4C51-88A0-BE488C0D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실제 적용 범위와 책임 수준을 기준으로 한 기술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F47D2-2F96-4B22-8B0F-370AA1C7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08603-90C1-4D1C-9DA5-0AE99C3D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주력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54168-FAD7-45DC-BD05-F9871C48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1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7FF"/>
                </a:solidFill>
              </a:defRPr>
            </a:pPr>
            <a:r>
              <a:rPr sz="1050" b="1" i="0">
                <a:solidFill>
                  <a:srgbClr val="3157FF"/>
                </a:solidFill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A89C4-E47E-40A2-AE50-191CF365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Java · Spring Boot · REST API ·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8DA29-A475-4AF4-9828-F7040C3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1EDB9-BBF4-49EA-BE4D-D63E05D5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33CF9-A25D-4D31-917F-665926C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F9F7A"/>
                </a:solidFill>
              </a:defRPr>
            </a:pPr>
            <a:r>
              <a:rPr sz="900" b="1" i="0">
                <a:solidFill>
                  <a:srgbClr val="0F9F7A"/>
                </a:solidFill>
              </a:rPr>
              <a:t>주력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18DC0-75D9-452C-96DB-B7BFD201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527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F7A"/>
                </a:solidFill>
              </a:defRPr>
            </a:pPr>
            <a:r>
              <a:rPr sz="1050" b="1" i="0">
                <a:solidFill>
                  <a:srgbClr val="0F9F7A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8D48B-F042-49F5-9ADC-5FB5CC94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Oracle · SQL · MyBatis · PL/SQL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F8989-DA01-4329-9877-06967532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F3FD0-CD90-4597-B4FF-5ED68BE9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0767D-90A1-47CE-BFC0-DDC00D4E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E6A5F"/>
                </a:solidFill>
              </a:defRPr>
            </a:pPr>
            <a:r>
              <a:rPr sz="900" b="1" i="0">
                <a:solidFill>
                  <a:srgbClr val="EE6A5F"/>
                </a:solidFill>
              </a:rPr>
              <a:t>실무 적용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5576A-9DFB-42CC-9FC6-D5A79996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90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E6A5F"/>
                </a:solidFill>
              </a:defRPr>
            </a:pPr>
            <a:r>
              <a:rPr sz="1050" b="1" i="0">
                <a:solidFill>
                  <a:srgbClr val="EE6A5F"/>
                </a:solidFill>
              </a:rPr>
              <a:t>STATE /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1835A-D8D9-4D52-82AF-9AA7A323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Redis · Spring Session · Spring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4B08F-04A0-4348-B10D-00CAEDA9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5558E-4943-452F-9936-44B32104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49E2D-9CC8-4AFC-B4A7-81F7DEB3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실무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9A585-F073-4FC2-8A30-2E91CD02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29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57FF"/>
                </a:solidFill>
              </a:defRPr>
            </a:pPr>
            <a:r>
              <a:rPr sz="1050" b="1" i="0">
                <a:solidFill>
                  <a:srgbClr val="3157FF"/>
                </a:solidFill>
              </a:rPr>
              <a:t>INTEGRATION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E0998-8CDD-48F8-8776-2D419B0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90975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Partner API · CompletableFuture · ThreadPoolTaskExecutor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75FDF-034F-4392-9971-7B93EE8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1409D-A041-49AD-BD8D-37EDB08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DA30D6-30BC-4F7E-A011-925CC0C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F9F7A"/>
                </a:solidFill>
              </a:defRPr>
            </a:pPr>
            <a:r>
              <a:rPr sz="900" b="1" i="0">
                <a:solidFill>
                  <a:srgbClr val="0F9F7A"/>
                </a:solidFill>
              </a:rPr>
              <a:t>프로젝트 적용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25B36-6AF0-4A52-BF1B-4B5BBB2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67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9F7A"/>
                </a:solidFill>
              </a:defRPr>
            </a:pPr>
            <a:r>
              <a:rPr sz="1050" b="1" i="0">
                <a:solidFill>
                  <a:srgbClr val="0F9F7A"/>
                </a:solidFill>
              </a:rPr>
              <a:t>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465731-881F-4FF1-B4A6-118ACCA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Docker · GitLab CI · Jenkins · Nomad · Linux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D08A6-BBCD-43D2-BA7A-502881BD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1656B-FB65-4BBC-AEBA-802E98B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71740-16F6-47CE-91E3-015C7C07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E6A5F"/>
                </a:solidFill>
              </a:defRPr>
            </a:pPr>
            <a:r>
              <a:rPr sz="900" b="1" i="0">
                <a:solidFill>
                  <a:srgbClr val="EE6A5F"/>
                </a:solidFill>
              </a:rPr>
              <a:t>프로젝트 적용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AF9E1-72A8-4500-942E-C239D87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05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E6A5F"/>
                </a:solidFill>
              </a:defRPr>
            </a:pPr>
            <a:r>
              <a:rPr sz="1050" b="1" i="0">
                <a:solidFill>
                  <a:srgbClr val="EE6A5F"/>
                </a:solidFill>
              </a:rPr>
              <a:t>AI / PYTHON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C5C0B-1E24-4CC5-8907-900A8996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67325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Python · Flask · Azure OpenAI · Structured Response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010655-7B53-4F48-9D3B-4D3BC9E8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F169EF-8554-46E9-9013-69E7E6EC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732F77-19F7-443C-B7FD-92E9E218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4217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EED29B-F4FF-4F9B-B8A8-F2F23062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1EDBE-E20C-48F3-A4A4-96A67577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3B1D6-3EA4-49A0-BC17-9576B497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7288C-E4E9-45E2-8E4E-9FCB7DCA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제휴사별 조건을 공통 검증 흐름으로 표준화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1B08A-C82A-4B3A-BF23-6753DFA5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여행·레저 제휴 연동 플랫폼  ·  2025 - 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F87F9-AB43-41E8-9917-C586DEA0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E6A5F"/>
                </a:solidFill>
              </a:defRPr>
            </a:pPr>
            <a:r>
              <a:rPr sz="1425" b="1" i="0">
                <a:solidFill>
                  <a:srgbClr val="EE6A5F"/>
                </a:solidFill>
              </a:rPr>
              <a:t>과제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5CF16-C34E-48D6-BF81-71CAA3F9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574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제휴사마다 다른 API 응답, 파일, 상품 유형, 검색 조건과 접속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FE6F2-7B7F-4D2F-BF07-74A7491A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9F7A"/>
                </a:solidFill>
              </a:defRPr>
            </a:pPr>
            <a:r>
              <a:rPr sz="1425" b="1" i="0">
                <a:solidFill>
                  <a:srgbClr val="0F9F7A"/>
                </a:solidFill>
              </a:rPr>
              <a:t>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AC782-AD05-4FCC-8A81-B70EF7F9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941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실시간 주문 API와 일배치, 적재·정규화·재처리·검색 노출을 연결한 검증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96935-9D28-4054-A125-8FC8E8FD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157FF"/>
                </a:solidFill>
              </a:defRPr>
            </a:pPr>
            <a:r>
              <a:rPr sz="1425" b="1" i="0">
                <a:solidFill>
                  <a:srgbClr val="3157FF"/>
                </a:solidFill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B7FA0-3017-4086-B140-A7E4356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57550"/>
            <a:ext cx="941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신규 제휴 온보딩 주도, 점검 항목과 대외 기술 커뮤니케이션 기준 표준화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893CA-576D-4928-ABA5-1B8CB4A3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B1AA5-3F44-4E3D-9E56-1FCA420C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CE872-AF12-4DA0-A3A6-9F7A586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PARTNER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158A3-1B68-44C8-8815-755C9C05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21722"/>
                </a:solidFill>
              </a:defRPr>
            </a:pPr>
            <a:r>
              <a:rPr sz="1050" b="1" i="0">
                <a:solidFill>
                  <a:srgbClr val="121722"/>
                </a:solidFill>
              </a:rPr>
              <a:t>API / 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4028A-E6BF-426D-9863-52A4AB7A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99C4F-B8AE-4351-9EFA-ECB4D57E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91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INGEST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463E-96E0-483D-8D65-1163169F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38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21722"/>
                </a:solidFill>
              </a:defRPr>
            </a:pPr>
            <a:r>
              <a:rPr sz="1050" b="1" i="0">
                <a:solidFill>
                  <a:srgbClr val="121722"/>
                </a:solidFill>
              </a:rPr>
              <a:t>API / BATCH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E7A22-DE31-4132-9C1D-2364E6AB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D3870-B05B-4436-9808-48E4BD74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PROCESS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C0856-3909-4A4D-BD48-0DBA532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8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21722"/>
                </a:solidFill>
              </a:defRPr>
            </a:pPr>
            <a:r>
              <a:rPr sz="1050" b="1" i="0">
                <a:solidFill>
                  <a:srgbClr val="121722"/>
                </a:solidFill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59A8E-CC5D-4A4F-BBE6-B9F482B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FA87E-03A2-4BA3-B795-CA5241B8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STORE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02B91-E1FD-4E15-87C0-3CFF106F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21722"/>
                </a:solidFill>
              </a:defRPr>
            </a:pPr>
            <a:r>
              <a:rPr sz="1050" b="1" i="0">
                <a:solidFill>
                  <a:srgbClr val="121722"/>
                </a:solidFill>
              </a:rPr>
              <a:t>ORACLE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D0220-0B1E-40D8-964C-9555BDAD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6FB3B0-6D55-48CC-9562-769CA75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91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3FB88-E3BD-4234-BE97-100EB4E0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38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21722"/>
                </a:solidFill>
              </a:defRPr>
            </a:pPr>
            <a:r>
              <a:rPr sz="1050" b="1" i="0">
                <a:solidFill>
                  <a:srgbClr val="121722"/>
                </a:solidFill>
              </a:rPr>
              <a:t>SEARCH /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45EE1-363D-4178-AB1F-AEADFAC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377D3-4078-4812-AB9E-72EF73D9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91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SERVE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C2005-7303-44F3-82B6-D5BA16EE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2387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21722"/>
                </a:solidFill>
              </a:defRPr>
            </a:pPr>
            <a:r>
              <a:rPr sz="1050" b="1" i="0">
                <a:solidFill>
                  <a:srgbClr val="121722"/>
                </a:solidFill>
              </a:rPr>
              <a:t>EXPOSURE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0ED48-DA0F-4242-A501-20014C52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157FF"/>
                </a:solidFill>
              </a:defRPr>
            </a:pPr>
            <a:r>
              <a:rPr sz="825" b="1" i="0">
                <a:solidFill>
                  <a:srgbClr val="3157FF"/>
                </a:solidFill>
              </a:rPr>
              <a:t>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18FDA5-24DD-4D6B-9B79-669BA41B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912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1722"/>
                </a:solidFill>
              </a:defRPr>
            </a:pPr>
            <a:r>
              <a:rPr sz="1275" b="1" i="0">
                <a:solidFill>
                  <a:srgbClr val="121722"/>
                </a:solidFill>
              </a:rPr>
              <a:t>재사용 가능한 온보딩 체크리스트 구축, 데이터 불일치 원인 추적 범위 축소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C9910-6D31-4FE9-BB93-AA62B37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892FB-6981-4EA8-83F7-89348790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F43B3F-122B-47ED-8C5D-5CE9B44D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71625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8D4D0-9215-4552-8780-C77E514F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00C72-BD66-4D77-A103-5602A2A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DB96-80CA-41CF-A4BF-A1BA487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DEEP DIVE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4C3A3-DE0B-48C0-AC8A-F4AB667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병렬 검증 구조가 적용된 검색 서비스 개발·운영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5E312-5FB8-4242-B4A8-9C64BB38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복수 제휴사 API 병렬 검증 구조의 기능 개발·운영 및 전체 흐름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5C642-3458-44B7-A77A-585D46FC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31623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CEE00-B686-4AE8-B92A-F7544ABF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SERVICE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F915C-25D2-4D7C-9385-4F3C36E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복수 제휴사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486A8-F845-4330-9C3B-3352146B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C0CE"/>
                </a:solidFill>
              </a:defRPr>
            </a:pPr>
            <a:r>
              <a:rPr sz="1275" b="0" i="0">
                <a:solidFill>
                  <a:srgbClr val="B8C0CE"/>
                </a:solidFill>
              </a:rPr>
              <a:t>병렬 검증 구조가 적용된</a:t>
            </a:r>
          </a:p>
          <a:p xmlns:a="http://schemas.openxmlformats.org/drawingml/2006/main">
            <a:pPr algn="l">
              <a:defRPr sz="1275" b="0" i="0">
                <a:solidFill>
                  <a:srgbClr val="B8C0CE"/>
                </a:solidFill>
              </a:defRPr>
            </a:pPr>
            <a:r>
              <a:rPr sz="1275" b="0" i="0">
                <a:solidFill>
                  <a:srgbClr val="B8C0CE"/>
                </a:solidFill>
              </a:rPr>
              <a:t>운영 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6A9F5-3BF5-43DE-8F1A-109F4621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5A0FF"/>
                </a:solidFill>
              </a:defRPr>
            </a:pPr>
            <a:r>
              <a:rPr sz="1200" b="1" i="0">
                <a:solidFill>
                  <a:srgbClr val="85A0FF"/>
                </a:solidFill>
              </a:rPr>
              <a:t>CompletableFuture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A8CC8-74F7-4C4A-9CE5-401695BE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5A0FF"/>
                </a:solidFill>
              </a:defRPr>
            </a:pPr>
            <a:r>
              <a:rPr sz="1200" b="1" i="0">
                <a:solidFill>
                  <a:srgbClr val="85A0FF"/>
                </a:solidFill>
              </a:rPr>
              <a:t>ThreadPoolTaskExecutor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DDA92-E4E1-4ABF-9776-B493929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8491F-2529-4C3A-9F30-6598D4B5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호출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561DC-02FB-4032-A57C-633E2ABC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제휴사별 요청과 timeout·예외 경계 분리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9132B-90C3-481B-8A87-6CCD26E8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687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806CA-C4F7-4146-BA08-60131FE5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813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421C3-13BD-4331-B05C-28D07BF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43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결과 취합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02F75-3DCF-4FC6-B986-E3A0B22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432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응답과 오류를 공통 검증 결과로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6726B-022D-4AA4-99B5-EC5677D5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3775"/>
            <a:ext cx="687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25874-2606-45D8-A257-1D47C09A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E73E7-D11C-4DB2-A405-C19C71DC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단계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2E672-727F-4B54-98BB-2F899D39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DB 저장, 검색 레코드, 화면 노출의 순차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19B63-0981-4C95-B28F-A248664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687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CC7C9-BD03-4606-9646-E79F696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38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9F7A"/>
                </a:solidFill>
              </a:defRPr>
            </a:pPr>
            <a:r>
              <a:rPr sz="900" b="1" i="0">
                <a:solidFill>
                  <a:srgbClr val="0F9F7A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CE043-28D4-499B-B6DA-35C4E09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00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운영 반영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617DAE-2F5C-45E8-A91F-369CD595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0057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반복 사례를 체크리스트와 재처리 기준으로 축적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6C7D7-7C83-4F5B-BDDE-E613F29F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E6A5F"/>
                </a:solidFill>
              </a:defRPr>
            </a:pPr>
            <a:r>
              <a:rPr sz="1050" b="1" i="0">
                <a:solidFill>
                  <a:srgbClr val="EE6A5F"/>
                </a:solidFill>
              </a:rPr>
              <a:t>담당 범위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D9FB2-BE24-4414-BFA8-C5065909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581650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1722"/>
                </a:solidFill>
              </a:defRPr>
            </a:pPr>
            <a:r>
              <a:rPr sz="1200" b="1" i="0">
                <a:solidFill>
                  <a:srgbClr val="121722"/>
                </a:solidFill>
              </a:rPr>
              <a:t>기능 개발·운영, timeout·예외·결과 취합 흐름 분석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C4998-3519-4FD4-AA61-A30EEE11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50944C-68EF-45AA-8A1E-42FE2657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4A25A-E770-4A2C-A1BE-8D3B9EB8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0072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804E3-9CD9-4CB0-A047-3EC2C3F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9820E-6113-4F00-91BC-BD0EAFA8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ED4B8-A66C-47C0-A78F-93AF33F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A2675-46D4-47BA-BC5D-55290E6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화면·포인트·통계 기준을 연결한 휴가샵 개발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E7ADE-8D3B-4C41-BAEE-D8E9606B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F9F7A"/>
                </a:solidFill>
              </a:defRPr>
            </a:pPr>
            <a:r>
              <a:rPr sz="975" b="1" i="0">
                <a:solidFill>
                  <a:srgbClr val="0F9F7A"/>
                </a:solidFill>
              </a:rPr>
              <a:t>한국관광공사 휴가샵 Web/App 커머스 서비스  ·  2024.04 - 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79F07-44B8-4924-9305-D9813D90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AF54E-9EA1-40B5-9A4B-DF46917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1AA81-1148-4375-9C15-868B875E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상품 탐색 · 주문/취소 · 포인트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81A8E-878C-4417-98CA-7C5AB311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8966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794B2-46E5-440C-B70C-04018B7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E6A5F"/>
                </a:solidFill>
              </a:defRPr>
            </a:pPr>
            <a:r>
              <a:rPr sz="975" b="1" i="0">
                <a:solidFill>
                  <a:srgbClr val="EE6A5F"/>
                </a:solidFill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C919F-01DB-410E-83EC-40EBA8A0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상품 노출 · 대량 처리 · 메시지 대상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CA2FC-4EDC-4B65-AF1B-EB9FE14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08966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EE9F5-0D34-4BD9-9F9A-C0FC54B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F9F7A"/>
                </a:solidFill>
              </a:defRPr>
            </a:pPr>
            <a:r>
              <a:rPr sz="975" b="1" i="0">
                <a:solidFill>
                  <a:srgbClr val="0F9F7A"/>
                </a:solidFill>
              </a:rPr>
              <a:t>REPORTING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0488D-A37E-4F9D-94E1-EE88532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고객사 조회 · 주문/포인트 통계 · 엑셀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98901-1ABD-4C27-BADB-906C6B93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1722"/>
                </a:solidFill>
              </a:defRPr>
            </a:pPr>
            <a:r>
              <a:rPr sz="1425" b="1" i="0">
                <a:solidFill>
                  <a:srgbClr val="121722"/>
                </a:solidFill>
              </a:rPr>
              <a:t>대표 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9C14E-3F70-43D0-9C57-2B65A1EF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DD1FB-AAB4-4B6E-8370-D7A63BB1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76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121722"/>
                </a:solidFill>
              </a:rPr>
              <a:t>재원별 포인트 기준을 주문·통계 산출에 일관되게 반영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DFF0A-70BF-456B-92B1-58E3378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09C2B-B2AF-4532-BF2B-33C39C4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768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121722"/>
                </a:solidFill>
              </a:rPr>
              <a:t>Redis 기반 Spring Session과 검색·외부 API 응답 캐시 흐름 분석 및 기능 개발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ECDB6-6CBE-4876-894E-EE6DF9E1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00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32CE1-1C65-4933-AF72-DB8F95E2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245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121722"/>
                </a:solidFill>
              </a:rPr>
              <a:t>국회요구자료 통계와 일일 리포트의 원천 데이터를 조회·엑셀 흐름으로 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7EF6B-9FDB-45FB-A324-1D9A48D8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00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EE274-F8F8-45FD-9A0E-D35C5F1E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24500"/>
            <a:ext cx="445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121722"/>
                </a:solidFill>
              </a:rPr>
              <a:t>부적합 상품 관리와 반복 대량 업무를 운영자 기능으로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33BF8-0510-4C02-9C5E-F398E119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98A22-C4D7-4048-8EDC-A0BB44C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557A8-9231-41C4-BDF8-137AB9BF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44199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B3F3A-CB11-4ECC-8599-A9C1CF1A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F1445-CED8-45D6-83AC-03A9C54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1F085-B03D-4C6A-B3E0-98068BA7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0E3C6-7E67-4F2A-B0EC-2CB20404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공통 플랫폼 기반 고객사별 정책·보안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F9BC2-AF5F-4627-8F9C-6E5B7FA9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E6A5F"/>
                </a:solidFill>
              </a:defRPr>
            </a:pPr>
            <a:r>
              <a:rPr sz="975" b="1" i="0">
                <a:solidFill>
                  <a:srgbClr val="EE6A5F"/>
                </a:solidFill>
              </a:rPr>
              <a:t>Benepia 복지 커머스 플랫폼  ·  2022.02 - 2024.03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EC0B5-9036-476C-9B90-376D9208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4099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3F311-C32E-4312-B4B8-E1FF123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COMMON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74125-9691-4D54-912A-FB3CCEE1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Java / Spring Boot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93507-784E-49E5-BB11-8C7191FD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JSP /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00D5F-61F3-4212-BE16-5F918613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Oracle / MyBatis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67A76-C41F-467C-B109-CB5AA27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Redis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39C12-B876-4433-A16D-ABBB62B2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1ABFE-ACC1-47C4-B5FE-9F45511B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C0CE"/>
                </a:solidFill>
              </a:defRPr>
            </a:pPr>
            <a:r>
              <a:rPr sz="1125" b="0" i="0">
                <a:solidFill>
                  <a:srgbClr val="B8C0CE"/>
                </a:solidFill>
              </a:rPr>
              <a:t>공통 동선과 다른 고객사에</a:t>
            </a:r>
          </a:p>
          <a:p xmlns:a="http://schemas.openxmlformats.org/drawingml/2006/main">
            <a:pPr algn="l">
              <a:defRPr sz="1125" b="0" i="0">
                <a:solidFill>
                  <a:srgbClr val="B8C0CE"/>
                </a:solidFill>
              </a:defRPr>
            </a:pPr>
            <a:r>
              <a:rPr sz="1125" b="0" i="0">
                <a:solidFill>
                  <a:srgbClr val="B8C0CE"/>
                </a:solidFill>
              </a:rPr>
              <a:t>영향이 없는 범위로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8F600-15B2-4732-8D4C-0DACD65D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157FF"/>
                </a:solidFill>
              </a:defRPr>
            </a:pPr>
            <a:r>
              <a:rPr sz="1500" b="1" i="0">
                <a:solidFill>
                  <a:srgbClr val="3157FF"/>
                </a:solidFill>
              </a:rPr>
              <a:t>고객사별 요구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8AE97-9B7A-4DD6-A821-9BF241B0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159EC-94C2-4CE0-AA1B-292089E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복지카드 · 예약/신청 · 개인정보/동의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6ECD4-3F6F-41D3-B324-E6F466EF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D5A8F-4378-4DD8-AEFC-F484133D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PC/Mobile 화면과 백오피스 데이터 동시 반영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5F5A7-91BB-4110-904E-4D708720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6482B-58E3-4F74-8916-CBA14C7E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722"/>
                </a:solidFill>
              </a:defRPr>
            </a:pPr>
            <a:r>
              <a:rPr sz="1350" b="0" i="0">
                <a:solidFill>
                  <a:srgbClr val="121722"/>
                </a:solidFill>
              </a:rPr>
              <a:t>현재값과 변경 이력을 함께 관리하는 데이터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1563E-20C8-4F3A-AF4C-84CF3DF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52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157FF"/>
                </a:solidFill>
              </a:defRPr>
            </a:pPr>
            <a:r>
              <a:rPr sz="1500" b="1" i="0">
                <a:solidFill>
                  <a:srgbClr val="3157FF"/>
                </a:solidFill>
              </a:rPr>
              <a:t>검증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61430-4E42-4508-BE58-7DFA9ED4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720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로그인·신청·조회·동의 저장 흐름을 유지한 상태에서 XSS/CSRF, 접근제어, 세션, 정보노출 항목 조치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3EBEA-4D1C-40F9-B282-964829F2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48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E6A5F"/>
                </a:solidFill>
              </a:defRPr>
            </a:pPr>
            <a:r>
              <a:rPr sz="900" b="1" i="0">
                <a:solidFill>
                  <a:srgbClr val="EE6A5F"/>
                </a:solidFill>
              </a:rPr>
              <a:t>ISMS / e-privacy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1B0A9-F7D4-4A53-8F60-DA7C356F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991E0-7354-4ADB-9294-05D51BEF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59815-AE4E-4C43-B231-C7CE91F4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5498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CD415-9888-415A-B799-BCADDB09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59A01-986A-48C3-BB98-8DC8F074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335BC-002A-4583-9E2B-3901050A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PROJECT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7ED17-60FF-4748-A11F-7AC82A83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Python AI API 구축과 운영 배포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E152C-A798-4182-A777-0B403F31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여행 AI Q&amp;A API  ·  2023 TF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C2BBA-87A1-4456-93B5-1B870FD5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1722"/>
                </a:solidFill>
              </a:defRPr>
            </a:pPr>
            <a:r>
              <a:rPr sz="1500" b="1" i="0">
                <a:solidFill>
                  <a:srgbClr val="121722"/>
                </a:solidFill>
              </a:rPr>
              <a:t>직접 구현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ACE47-0284-4233-B311-1EB06AAD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D09AD-1CD5-4828-B168-CF34A554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Python/Flask Gateway API와 요청·응답 JSON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ADB05-F4E4-4F1F-A4B0-B6634FC4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9D291-6607-4E6D-AF7A-33E27BE8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질문 범위 판별과 답변 생성의 2단계 GPT 호출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F512A-0829-42AA-BC7A-C2C9424C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B7471-E281-436C-B576-309A9C59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Oracle 대화 이력과 세션별 최근 맥락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A53FA-5E1F-49F6-B7A6-98493E59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2255E-FE26-47EA-9FC7-6A434E6A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722"/>
                </a:solidFill>
              </a:defRPr>
            </a:pPr>
            <a:r>
              <a:rPr sz="1275" b="0" i="0">
                <a:solidFill>
                  <a:srgbClr val="121722"/>
                </a:solidFill>
              </a:rPr>
              <a:t>Docker · GitLab CI · Nomad · health check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1F2B9-20D1-4532-99BC-44218425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5410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45FFD-4850-4C7E-9D46-ECEFBAE1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33BC5-C275-46E6-AF1B-C61D967B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전사 첫 Python/Flask 기반 AI Gateway API 구현,</a:t>
            </a:r>
          </a:p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서비스 API와 운영 런타임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57AEF-A1F1-4C15-ABEF-64457B6D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4876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08e3c1fbc47b8"/>
          <a:stretch xmlns:a="http://schemas.openxmlformats.org/drawingml/2006/main"/>
        </p:blipFill>
        <p:spPr>
          <a:xfrm xmlns:a="http://schemas.openxmlformats.org/drawingml/2006/main">
            <a:off x="6877050" y="2292659"/>
            <a:ext cx="1352550" cy="3339482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fc767862f4b51"/>
          <a:stretch xmlns:a="http://schemas.openxmlformats.org/drawingml/2006/main"/>
        </p:blipFill>
        <p:spPr>
          <a:xfrm xmlns:a="http://schemas.openxmlformats.org/drawingml/2006/main">
            <a:off x="8420100" y="2292659"/>
            <a:ext cx="1352550" cy="3339482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332e2e1fa4b44"/>
          <a:stretch xmlns:a="http://schemas.openxmlformats.org/drawingml/2006/main"/>
        </p:blipFill>
        <p:spPr>
          <a:xfrm xmlns:a="http://schemas.openxmlformats.org/drawingml/2006/main">
            <a:off x="10169742" y="2133600"/>
            <a:ext cx="939367" cy="365760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75BA7-334C-4A19-82C2-8C393123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0A5CC-B022-4CCB-B7F7-E3774E02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26AFE-E8D7-4FBA-B11F-532FC987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6660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904426-8766-4C39-8409-D5610C41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33ABC-F282-40AE-BF6C-BD48C05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4B51E-6918-4BB0-9986-64AF11E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ENGINEERING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C21AB-90B7-4EFC-8435-38F141CB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AI-DLC: AI를 활용한 문제 분석과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DB08D-9DEC-494C-92E4-2264B6C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AI의 후보 제안과 개발자의 근거 검증을 분리한 업무 방식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38CFF-1DA7-4555-85B0-835B244E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03E7E-4BC3-4D4D-8B73-E0C206C4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DE3BF-56AF-4C2A-AE79-031D198C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0FB78-302E-42CE-8529-938A7852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요청값, 실행 시점,</a:t>
            </a:r>
          </a:p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데이터 상태를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E3274-1D34-4054-B71F-5EC29A62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E6A5F"/>
                </a:solidFill>
              </a:defRPr>
            </a:pPr>
            <a:r>
              <a:rPr sz="900" b="1" i="0">
                <a:solidFill>
                  <a:srgbClr val="EE6A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B9A16-ED4A-4BD9-9249-3F9792C8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6424C-FC39-414F-989A-05145E8E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F8CA6-D3F2-42BE-85EC-DF3886E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718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API · Batch · DB · Search</a:t>
            </a:r>
          </a:p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중 원인 계층을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B389B-B001-46C1-B99B-23B7F41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F9F7A"/>
                </a:solidFill>
              </a:defRPr>
            </a:pPr>
            <a:r>
              <a:rPr sz="900" b="1" i="0">
                <a:solidFill>
                  <a:srgbClr val="0F9F7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760F8-61EC-4AFC-8E38-66E53080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8286F-6099-484B-B7EF-6D573A38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541A4-B448-49A7-859A-73E865F3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코드 · SQL · 로그 · 테스트로</a:t>
            </a:r>
          </a:p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후보를 반증하거나 확정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B67EF-A9C3-4333-B56D-5B666E6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09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7FF"/>
                </a:solidFill>
              </a:defRPr>
            </a:pPr>
            <a:r>
              <a:rPr sz="900" b="1" i="0">
                <a:solidFill>
                  <a:srgbClr val="3157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2C228-91D9-42FA-9EE6-2823E5AE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52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19C6E-B682-48EB-8754-11D04F3F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1722"/>
                </a:solidFill>
              </a:defRPr>
            </a:pPr>
            <a:r>
              <a:rPr sz="1800" b="1" i="0">
                <a:solidFill>
                  <a:srgbClr val="121722"/>
                </a:solidFill>
              </a:rPr>
              <a:t>축적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FDF4C-2C3A-4E2B-8240-5B629602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체크리스트와 재처리 기준으로</a:t>
            </a:r>
          </a:p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다음 분석에 재사용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26148-BF41-4E8A-9532-17F74F0B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089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B88ED1-DD28-47AE-B5B4-F52F8A82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93A7"/>
                </a:solidFill>
              </a:defRPr>
            </a:pPr>
            <a:r>
              <a:rPr sz="825" b="1" i="0">
                <a:solidFill>
                  <a:srgbClr val="8993A7"/>
                </a:solidFill>
              </a:rPr>
              <a:t>AI-DLC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02F79-746A-4614-933B-62393604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5A0FF"/>
                </a:solidFill>
              </a:defRPr>
            </a:pPr>
            <a:r>
              <a:rPr sz="900" b="1" i="0">
                <a:solidFill>
                  <a:srgbClr val="85A0FF"/>
                </a:solidFill>
              </a:rPr>
              <a:t>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252AA-4452-4AFB-9445-A8EF4F79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16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업무 맥락 정리 · 원인 후보 도출</a:t>
            </a:r>
          </a:p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확인 순서 제안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8790D-DBE4-4C6B-962C-CE076B0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339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581BE-6DF6-4A1D-B85B-53E2E013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14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4D3AD"/>
                </a:solidFill>
              </a:defRPr>
            </a:pPr>
            <a:r>
              <a:rPr sz="900" b="1" i="0">
                <a:solidFill>
                  <a:srgbClr val="54D3AD"/>
                </a:solidFill>
              </a:rPr>
              <a:t>DEVELOPER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995A5-69C4-47ED-9A60-A2B2372E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81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코드 · SQL · 로그 · 테스트를 근거로</a:t>
            </a:r>
          </a:p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최종 판단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9EFA97-06E7-45E4-8CA1-C9A0F1E9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49EF7-A208-4742-B267-50CD62A6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93E1B-E139-4E48-89D6-87D6D13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0495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F9B53E-D214-4B44-80AB-76F6EB09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754D5-DD7B-4F2C-81D1-526BCEA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A9C44-35CF-45A7-9050-7827ABF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472"/>
                </a:solidFill>
              </a:defRPr>
            </a:pPr>
            <a:r>
              <a:rPr sz="975" b="1" i="0">
                <a:solidFill>
                  <a:srgbClr val="5B6472"/>
                </a:solidFill>
              </a:rPr>
              <a:t>SELECTED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46F11-8EEE-4989-9D60-735E2AD4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21722"/>
                </a:solidFill>
              </a:defRPr>
            </a:pPr>
            <a:r>
              <a:rPr sz="2700" b="1" i="0">
                <a:solidFill>
                  <a:srgbClr val="121722"/>
                </a:solidFill>
              </a:rPr>
              <a:t>프로젝트별 책임 범위와 기술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2634E-30F6-417F-9821-AE98B23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대표 프로젝트의 역할, 기술, 결과 요약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5017D-5F96-425E-AC08-E7AE463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00EE2-4493-45DE-BBAA-4B0033C2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B2558-563F-4242-A4E3-C3CCB824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0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C7C9A-F551-43A7-9B28-818F9700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9AA3B2"/>
                </a:solidFill>
              </a:defRPr>
            </a:pPr>
            <a:r>
              <a:rPr sz="825" b="1" i="0">
                <a:solidFill>
                  <a:srgbClr val="9AA3B2"/>
                </a:solidFill>
              </a:rPr>
              <a:t>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3D15E-CC83-4F84-BCB5-F81848E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D357F-7D87-436D-8E51-1FCE7F14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7FF"/>
                </a:solidFill>
              </a:defRPr>
            </a:pPr>
            <a:r>
              <a:rPr sz="1350" b="1" i="0">
                <a:solidFill>
                  <a:srgbClr val="3157FF"/>
                </a:solidFill>
              </a:rPr>
              <a:t>여행·레저 제휴 연동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F6DE1-0105-4033-AFCA-7D5DF688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API · Batch ·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CB5F5-683C-4ABF-B70D-7F66EC83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Java · Concurrency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4A08F-4A37-4597-AF24-BF3E543A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1722"/>
                </a:solidFill>
              </a:defRPr>
            </a:pPr>
            <a:r>
              <a:rPr sz="1200" b="1" i="0">
                <a:solidFill>
                  <a:srgbClr val="121722"/>
                </a:solidFill>
              </a:rPr>
              <a:t>공통 검증·온보딩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534CC-BC76-409E-82A4-668C6C62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CD367-AB87-4408-99E6-B8AC5C2B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KTO 휴가샵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63EDD-5AAA-4A17-9F28-65034506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909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사용자 · 운영 · 통계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B20E5-0E50-4C62-A916-2A39D08D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909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Oracle · Redis · Batch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96958-336A-49C8-A73D-0BE5C116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1722"/>
                </a:solidFill>
              </a:defRPr>
            </a:pPr>
            <a:r>
              <a:rPr sz="1200" b="1" i="0">
                <a:solidFill>
                  <a:srgbClr val="121722"/>
                </a:solidFill>
              </a:rPr>
              <a:t>포인트·통계 기준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A0DFB-14E3-4EDD-9E1B-95BB0B49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BC826-6C63-4192-BF09-02BA92A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Benepia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78D33-245A-4BA7-92CD-B78E6828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100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고객사 기능 · 보안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6CEF8-1698-4AB6-BC47-683A83CB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00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Java · JSP · Oracle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73E7C-86D9-41EE-A078-9C8EDEBD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1722"/>
                </a:solidFill>
              </a:defRPr>
            </a:pPr>
            <a:r>
              <a:rPr sz="1200" b="1" i="0">
                <a:solidFill>
                  <a:srgbClr val="121722"/>
                </a:solidFill>
              </a:rPr>
              <a:t>공통 플랫폼 영향 통제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4F594-3198-402F-803B-ABE34491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4870A-4826-4713-9060-1BBB7E9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722"/>
                </a:solidFill>
              </a:defRPr>
            </a:pPr>
            <a:r>
              <a:rPr sz="1350" b="1" i="0">
                <a:solidFill>
                  <a:srgbClr val="121722"/>
                </a:solidFill>
              </a:rPr>
              <a:t>여행 AI 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B4DB1-727B-491D-9A0A-B3D24427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29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AI Gateway · 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B7E0B7-F4CC-425E-B293-B233B24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Python · Flask · Docker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37AAF-8E76-4DD6-B662-67ACE5E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29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1722"/>
                </a:solidFill>
              </a:defRPr>
            </a:pPr>
            <a:r>
              <a:rPr sz="1200" b="1" i="0">
                <a:solidFill>
                  <a:srgbClr val="121722"/>
                </a:solidFill>
              </a:rPr>
              <a:t>구현부터 배포 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01292-94C2-4E8F-8739-902D8885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D23CF-7C2A-407C-AA7E-C204EC6A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7FF"/>
                </a:solidFill>
              </a:defRPr>
            </a:pPr>
            <a:r>
              <a:rPr sz="1125" b="1" i="0">
                <a:solidFill>
                  <a:srgbClr val="3157FF"/>
                </a:solidFill>
              </a:rPr>
              <a:t>공통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12A68-0C43-4BD5-8C60-260DA05A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1722"/>
                </a:solidFill>
              </a:defRPr>
            </a:pPr>
            <a:r>
              <a:rPr sz="1275" b="1" i="0">
                <a:solidFill>
                  <a:srgbClr val="121722"/>
                </a:solidFill>
              </a:rPr>
              <a:t>서비스 반영 전후 전체 흐름 확인, 운영에서 다시 검증 가능한 구조로 정리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6B2E9-8F2C-476A-B8D7-2996C5E3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A43333-E7AF-4108-9E6E-B83504C2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9AA3B2"/>
                </a:solidFill>
              </a:defRPr>
            </a:pPr>
            <a:r>
              <a:rPr sz="675" b="1" i="0">
                <a:solidFill>
                  <a:srgbClr val="9AA3B2"/>
                </a:solidFill>
              </a:rPr>
              <a:t>HEETAE LEE  /  SOFTWARE ENGINEER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CBFB8F-C0C0-47C6-97B8-436AB49D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9AA3B2"/>
                </a:solidFill>
              </a:defRPr>
            </a:pPr>
            <a:r>
              <a:rPr sz="750" b="1" i="0">
                <a:solidFill>
                  <a:srgbClr val="9AA3B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0633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2F5F4-4108-4226-8B91-B74A731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66159-575A-494F-BBDA-C3DE77E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157FF"/>
                </a:solidFill>
              </a:defRPr>
            </a:pPr>
            <a:r>
              <a:rPr sz="975" b="1" i="0">
                <a:solidFill>
                  <a:srgbClr val="3157FF"/>
                </a:solidFill>
              </a:rPr>
              <a:t>HEETAE LEE  /  SOFTWARE ENGINEER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1377F-2F4B-462F-9313-3141368D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1722"/>
                </a:solidFill>
              </a:defRPr>
            </a:pPr>
            <a:r>
              <a:rPr sz="3450" b="1" i="0">
                <a:solidFill>
                  <a:srgbClr val="121722"/>
                </a:solidFill>
              </a:rPr>
              <a:t>API·데이터·배치·운영을</a:t>
            </a:r>
          </a:p>
          <a:p xmlns:a="http://schemas.openxmlformats.org/drawingml/2006/main">
            <a:pPr algn="l">
              <a:defRPr sz="3450" b="1" i="0">
                <a:solidFill>
                  <a:srgbClr val="121722"/>
                </a:solidFill>
              </a:defRPr>
            </a:pPr>
            <a:r>
              <a:rPr sz="3450" b="1" i="0">
                <a:solidFill>
                  <a:srgbClr val="121722"/>
                </a:solidFill>
              </a:rPr>
              <a:t>함께 다루는 백엔드 개발자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A1E97-8644-4EA6-892A-7EBF3A9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157FF"/>
                </a:solidFill>
              </a:defRPr>
            </a:pPr>
            <a:r>
              <a:rPr sz="1575" b="1" i="0">
                <a:solidFill>
                  <a:srgbClr val="3157FF"/>
                </a:solidFill>
              </a:rPr>
              <a:t>외부 연동과 데이터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0E664-9BD3-4670-A7C6-F029DB0E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9F7A"/>
                </a:solidFill>
              </a:defRPr>
            </a:pPr>
            <a:r>
              <a:rPr sz="1575" b="1" i="0">
                <a:solidFill>
                  <a:srgbClr val="0F9F7A"/>
                </a:solidFill>
              </a:rPr>
              <a:t>기능 개발부터 운영 검증까지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24CFF-E8FB-4066-BA9B-00B8C04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E6A5F"/>
                </a:solidFill>
              </a:defRPr>
            </a:pPr>
            <a:r>
              <a:rPr sz="1575" b="1" i="0">
                <a:solidFill>
                  <a:srgbClr val="EE6A5F"/>
                </a:solidFill>
              </a:rPr>
              <a:t>신규 기술을 실행 가능한 서비스로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47BEF-7E8C-4AD5-B445-33B163A5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6A1BC-8B8D-4AA5-968D-798C8D15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2"/>
                </a:solidFill>
              </a:defRPr>
            </a:pPr>
            <a:r>
              <a:rPr sz="900" b="1" i="0">
                <a:solidFill>
                  <a:srgbClr val="9AA3B2"/>
                </a:solidFill>
              </a:rPr>
              <a:t>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3C34F-53F0-4CE8-B636-BD3B1D57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21722"/>
                </a:solidFill>
              </a:defRPr>
            </a:pPr>
            <a:r>
              <a:rPr sz="1200" b="0" i="0">
                <a:solidFill>
                  <a:srgbClr val="121722"/>
                </a:solidFill>
              </a:rPr>
              <a:t>https://heetae-l.github.io/ko/portfolio/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DEC7C-8BD9-485D-88BD-6DE1F1C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FCE10-8945-4B2D-A6C7-03FB2AA9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85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488D8-7AD8-4ABD-9817-C982A330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DAC95-880C-47AC-8647-F046D3A7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0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523C1-9703-45C4-96DE-B2D805C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EC72D-C0B4-4646-B78C-4BD3B7A0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0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26135-92AD-4714-A68E-7A41D05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993A7"/>
                </a:solidFill>
              </a:defRPr>
            </a:pPr>
            <a:r>
              <a:rPr sz="900" b="1" i="0">
                <a:solidFill>
                  <a:srgbClr val="8993A7"/>
                </a:solidFill>
              </a:rPr>
              <a:t>PORTFOLIO 2026</a:t>
            </a:r>
          </a:p>
        </p:txBody>
      </p:sp>
    </p:spTree>
    <p:extLst>
      <p:ext uri="{BB962C8B-B14F-4D97-AF65-F5344CB8AC3E}">
        <p14:creationId xmlns:p14="http://schemas.microsoft.com/office/powerpoint/2010/main" val="79943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2026-07-20T15:42:53.6980000Z</dcterms:created>
  <dcterms:modified xsi:type="dcterms:W3CDTF">2026-07-20T15:42:53.6980000Z</dcterms:modified>
</coreProperties>
</file>