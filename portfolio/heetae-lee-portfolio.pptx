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4f5b992fb74250" /><Relationship Type="http://schemas.openxmlformats.org/officeDocument/2006/relationships/extended-properties" Target="/docProps/app.xml" Id="Rf3b86873b2a74b7e" /><Relationship Type="http://schemas.openxmlformats.org/officeDocument/2006/relationships/officeDocument" Target="/ppt/presentation.xml" Id="Rf49b9d57ef294e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96a826022344ea"/>
  </p:sldMasterIdLst>
  <p:notesMasterIdLst>
    <p:notesMasterId xmlns:r="http://schemas.openxmlformats.org/officeDocument/2006/relationships" r:id="R65d2d542cded41bf"/>
  </p:notesMasterIdLst>
  <p:sldIdLst>
    <p:sldId xmlns:r="http://schemas.openxmlformats.org/officeDocument/2006/relationships" id="256" r:id="R97c9d49a475a4916"/>
    <p:sldId xmlns:r="http://schemas.openxmlformats.org/officeDocument/2006/relationships" id="257" r:id="R5a1d1a507e3e4418"/>
    <p:sldId xmlns:r="http://schemas.openxmlformats.org/officeDocument/2006/relationships" id="258" r:id="R1a7e0feb59b74fdf"/>
    <p:sldId xmlns:r="http://schemas.openxmlformats.org/officeDocument/2006/relationships" id="259" r:id="Re267cc6eb61e4ee7"/>
    <p:sldId xmlns:r="http://schemas.openxmlformats.org/officeDocument/2006/relationships" id="260" r:id="R2f92c15733d045c6"/>
    <p:sldId xmlns:r="http://schemas.openxmlformats.org/officeDocument/2006/relationships" id="261" r:id="Raf0e74cc7fd8419f"/>
    <p:sldId xmlns:r="http://schemas.openxmlformats.org/officeDocument/2006/relationships" id="262" r:id="R66a29bac4ca64f2d"/>
    <p:sldId xmlns:r="http://schemas.openxmlformats.org/officeDocument/2006/relationships" id="263" r:id="R2e5ea82fdf064d4e"/>
    <p:sldId xmlns:r="http://schemas.openxmlformats.org/officeDocument/2006/relationships" id="264" r:id="Rc1f90e1d8825480a"/>
    <p:sldId xmlns:r="http://schemas.openxmlformats.org/officeDocument/2006/relationships" id="265" r:id="Rcdf00582d2a2400a"/>
    <p:sldId xmlns:r="http://schemas.openxmlformats.org/officeDocument/2006/relationships" id="266" r:id="R4c2ce11f843240af"/>
    <p:sldId xmlns:r="http://schemas.openxmlformats.org/officeDocument/2006/relationships" id="267" r:id="Rc4d4b2d811814f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1f7af1057c44b6" /><Relationship Type="http://schemas.openxmlformats.org/officeDocument/2006/relationships/slideMaster" Target="/ppt/slideMasters/slideMaster1.xml" Id="R9e96a826022344ea" /><Relationship Type="http://schemas.openxmlformats.org/officeDocument/2006/relationships/notesMaster" Target="/ppt/notesMasters/notesMaster1.xml" Id="R65d2d542cded41bf" /><Relationship Type="http://schemas.openxmlformats.org/officeDocument/2006/relationships/presProps" Target="/ppt/presProps.xml" Id="R5c9a76e0cfed4a2b" /><Relationship Type="http://schemas.openxmlformats.org/officeDocument/2006/relationships/tableStyles" Target="/ppt/tableStyles.xml" Id="Rb31022bea5b34e07" /><Relationship Type="http://schemas.openxmlformats.org/officeDocument/2006/relationships/slide" Target="/ppt/slides/slide1.xml" Id="R97c9d49a475a4916" /><Relationship Type="http://schemas.openxmlformats.org/officeDocument/2006/relationships/slide" Target="/ppt/slides/slide2.xml" Id="R5a1d1a507e3e4418" /><Relationship Type="http://schemas.openxmlformats.org/officeDocument/2006/relationships/slide" Target="/ppt/slides/slide3.xml" Id="R1a7e0feb59b74fdf" /><Relationship Type="http://schemas.openxmlformats.org/officeDocument/2006/relationships/slide" Target="/ppt/slides/slide4.xml" Id="Re267cc6eb61e4ee7" /><Relationship Type="http://schemas.openxmlformats.org/officeDocument/2006/relationships/slide" Target="/ppt/slides/slide5.xml" Id="R2f92c15733d045c6" /><Relationship Type="http://schemas.openxmlformats.org/officeDocument/2006/relationships/slide" Target="/ppt/slides/slide6.xml" Id="Raf0e74cc7fd8419f" /><Relationship Type="http://schemas.openxmlformats.org/officeDocument/2006/relationships/slide" Target="/ppt/slides/slide7.xml" Id="R66a29bac4ca64f2d" /><Relationship Type="http://schemas.openxmlformats.org/officeDocument/2006/relationships/slide" Target="/ppt/slides/slide8.xml" Id="R2e5ea82fdf064d4e" /><Relationship Type="http://schemas.openxmlformats.org/officeDocument/2006/relationships/slide" Target="/ppt/slides/slide9.xml" Id="Rc1f90e1d8825480a" /><Relationship Type="http://schemas.openxmlformats.org/officeDocument/2006/relationships/slide" Target="/ppt/slides/slide10.xml" Id="Rcdf00582d2a2400a" /><Relationship Type="http://schemas.openxmlformats.org/officeDocument/2006/relationships/slide" Target="/ppt/slides/slide11.xml" Id="R4c2ce11f843240af" /><Relationship Type="http://schemas.openxmlformats.org/officeDocument/2006/relationships/slide" Target="/ppt/slides/slide12.xml" Id="Rc4d4b2d811814f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621276667149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54f60ef95a467b" /><Relationship Type="http://schemas.openxmlformats.org/officeDocument/2006/relationships/notesMaster" Target="/ppt/notesMasters/notesMaster1.xml" Id="R8f31c8452fe042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731dbde8784dfb" /><Relationship Type="http://schemas.openxmlformats.org/officeDocument/2006/relationships/notesMaster" Target="/ppt/notesMasters/notesMaster1.xml" Id="Rbfb7f0a914a340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51f3da520a4daa" /><Relationship Type="http://schemas.openxmlformats.org/officeDocument/2006/relationships/notesMaster" Target="/ppt/notesMasters/notesMaster1.xml" Id="R9e0f30a202b244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335dcd78b04470" /><Relationship Type="http://schemas.openxmlformats.org/officeDocument/2006/relationships/notesMaster" Target="/ppt/notesMasters/notesMaster1.xml" Id="R9e71d13d0c264a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6e5a5bdc1b4993" /><Relationship Type="http://schemas.openxmlformats.org/officeDocument/2006/relationships/notesMaster" Target="/ppt/notesMasters/notesMaster1.xml" Id="Re3f2d2e6c7ab4b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fc18095afc468e" /><Relationship Type="http://schemas.openxmlformats.org/officeDocument/2006/relationships/notesMaster" Target="/ppt/notesMasters/notesMaster1.xml" Id="R7c07643b5cc847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bd8bf7d7fb4f17" /><Relationship Type="http://schemas.openxmlformats.org/officeDocument/2006/relationships/notesMaster" Target="/ppt/notesMasters/notesMaster1.xml" Id="Rd83fbd6f3d0243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70a42fddba4993" /><Relationship Type="http://schemas.openxmlformats.org/officeDocument/2006/relationships/notesMaster" Target="/ppt/notesMasters/notesMaster1.xml" Id="R1fcec17c55364e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db467457eb4cd0" /><Relationship Type="http://schemas.openxmlformats.org/officeDocument/2006/relationships/notesMaster" Target="/ppt/notesMasters/notesMaster1.xml" Id="R5b3e46c7e15849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65e2b9ccae4676" /><Relationship Type="http://schemas.openxmlformats.org/officeDocument/2006/relationships/notesMaster" Target="/ppt/notesMasters/notesMaster1.xml" Id="Rbe375f6f70df45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b270340c7724491" /><Relationship Type="http://schemas.openxmlformats.org/officeDocument/2006/relationships/notesMaster" Target="/ppt/notesMasters/notesMaster1.xml" Id="R3f6f80af9e5c49d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8f5337165544d27" /><Relationship Type="http://schemas.openxmlformats.org/officeDocument/2006/relationships/notesMaster" Target="/ppt/notesMasters/notesMaster1.xml" Id="Rf58a5d9924f642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6e20f4047641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b35659e5e8437c" /><Relationship Type="http://schemas.openxmlformats.org/officeDocument/2006/relationships/slideLayout" Target="/ppt/slideLayouts/slideLayout1.xml" Id="Rb7525d82702b4f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525d82702b4f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ff9c8082b4a7b" /><Relationship Type="http://schemas.openxmlformats.org/officeDocument/2006/relationships/notesSlide" Target="/ppt/notesSlides/notesSlide1.xml" Id="R51d5c781a2444d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177afa7ef47df" /><Relationship Type="http://schemas.openxmlformats.org/officeDocument/2006/relationships/notesSlide" Target="/ppt/notesSlides/notesSlide2.xml" Id="R7289ab4132c247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5f2b944654ad8" /><Relationship Type="http://schemas.openxmlformats.org/officeDocument/2006/relationships/notesSlide" Target="/ppt/notesSlides/notesSlide3.xml" Id="Rbe526b32ca1349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2b92a579b4682" /><Relationship Type="http://schemas.openxmlformats.org/officeDocument/2006/relationships/notesSlide" Target="/ppt/notesSlides/notesSlide4.xml" Id="R1529bc299a9a4a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b43f8675db4a0e" /><Relationship Type="http://schemas.openxmlformats.org/officeDocument/2006/relationships/notesSlide" Target="/ppt/notesSlides/notesSlide5.xml" Id="Red3424bcdc3b42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56f0b866c4ee9" /><Relationship Type="http://schemas.openxmlformats.org/officeDocument/2006/relationships/notesSlide" Target="/ppt/notesSlides/notesSlide6.xml" Id="Re0625a7334c244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93a1fcb98048af" /><Relationship Type="http://schemas.openxmlformats.org/officeDocument/2006/relationships/notesSlide" Target="/ppt/notesSlides/notesSlide7.xml" Id="R950633a860bd453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d770f8b67432f" /><Relationship Type="http://schemas.openxmlformats.org/officeDocument/2006/relationships/notesSlide" Target="/ppt/notesSlides/notesSlide8.xml" Id="R442401d8a17c4e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b4085e61f84df1" /><Relationship Type="http://schemas.openxmlformats.org/officeDocument/2006/relationships/image" Target="/ppt/media/image.jpeg" Id="R5c8e87929b1b4c07" /><Relationship Type="http://schemas.openxmlformats.org/officeDocument/2006/relationships/image" Target="/ppt/media/image2.jpeg" Id="Ra62a132447184ec5" /><Relationship Type="http://schemas.openxmlformats.org/officeDocument/2006/relationships/image" Target="/ppt/media/image3.jpeg" Id="R2286f24b96064e31" /><Relationship Type="http://schemas.openxmlformats.org/officeDocument/2006/relationships/notesSlide" Target="/ppt/notesSlides/notesSlide9.xml" Id="R2c7244b11a3946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d319b5bb44b4d" /><Relationship Type="http://schemas.openxmlformats.org/officeDocument/2006/relationships/notesSlide" Target="/ppt/notesSlides/notesSlide10.xml" Id="R8d8d9fa39cd3431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629bff9ac4875" /><Relationship Type="http://schemas.openxmlformats.org/officeDocument/2006/relationships/notesSlide" Target="/ppt/notesSlides/notesSlide11.xml" Id="Rffeeeceb882546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b560cae6f4212" /><Relationship Type="http://schemas.openxmlformats.org/officeDocument/2006/relationships/notesSlide" Target="/ppt/notesSlides/notesSlide12.xml" Id="R50bb3e6f737c41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439CCA-CE47-4D9B-A633-1DC0157D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4A9E9-C788-46F7-B737-244FA6C5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PORTFOLIO  / 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F81EF-2300-4FD1-86B9-21ECD96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6762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21722"/>
                </a:solidFill>
              </a:defRPr>
            </a:pPr>
            <a:r>
              <a:rPr sz="4350" b="1" i="0">
                <a:solidFill>
                  <a:srgbClr val="121722"/>
                </a:solidFill>
              </a:rPr>
              <a:t>Heetae Lee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806A0-E52F-4623-9763-67158457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3157FF"/>
                </a:solidFill>
              </a:defRPr>
            </a:pPr>
            <a:r>
              <a:rPr sz="2550" b="1" i="0">
                <a:solidFill>
                  <a:srgbClr val="3157FF"/>
                </a:solidFill>
              </a:rPr>
              <a:t>Software Engineer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D6FB9-7DC3-439D-A34E-5308FE8A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619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B6472"/>
                </a:solidFill>
              </a:defRPr>
            </a:pPr>
            <a:r>
              <a:rPr sz="1725" b="0" i="0">
                <a:solidFill>
                  <a:srgbClr val="5B6472"/>
                </a:solidFill>
              </a:rPr>
              <a:t>복지·여행 커머스의 API, 배치, DB,</a:t>
            </a:r>
          </a:p>
          <a:p xmlns:a="http://schemas.openxmlformats.org/drawingml/2006/main">
            <a:pPr algn="l">
              <a:defRPr sz="1725" b="0" i="0">
                <a:solidFill>
                  <a:srgbClr val="5B6472"/>
                </a:solidFill>
              </a:defRPr>
            </a:pPr>
            <a:r>
              <a:rPr sz="1725" b="0" i="0">
                <a:solidFill>
                  <a:srgbClr val="5B6472"/>
                </a:solidFill>
              </a:rPr>
              <a:t>외부 연동 개발·운영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68021-1397-427A-8012-7D6C2470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F3BFC-4BD2-4BFE-B68F-128EEEBE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5+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CA9FF6-E3A6-4C89-8028-97A6C0DB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86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JAVA / 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70024B-F18C-4301-9AB2-0D875AA6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86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BACKEND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1DD657-0727-4825-94EA-6C2E5CD0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21722"/>
                </a:solidFill>
              </a:defRPr>
            </a:pPr>
            <a:r>
              <a:rPr sz="1050" b="0" i="0">
                <a:solidFill>
                  <a:srgbClr val="121722"/>
                </a:solidFill>
              </a:rPr>
              <a:t>https://heetae-l.github.io/ko/portfolio/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88CAC-F872-42E5-9BA5-DA60A112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0"/>
            <a:ext cx="4152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0CF748-C3B7-4EEF-9C4F-CA8D3068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993A7"/>
                </a:solidFill>
              </a:defRPr>
            </a:pPr>
            <a:r>
              <a:rPr sz="900" b="1" i="0">
                <a:solidFill>
                  <a:srgbClr val="8993A7"/>
                </a:solidFill>
              </a:rPr>
              <a:t>SERVICE 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749C3-E161-4B60-8E32-B9583C5D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525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5645E-DA47-402E-958A-F11155B9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314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0D958-56F6-44AE-AFF6-D009E224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76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서비스와 외부 시스템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EC2FEF-0F6D-4B6C-A311-CA55EF4D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B3DEC4-AC8C-4B23-87F2-91B4DA4D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5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37E968-9CBE-449F-A9FF-B33F85CE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19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DE32F-8713-4761-A98B-07569A68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정기 수집과 후처리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47012-76A1-4D29-9651-AD483C05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E0630C-B140-468E-83E6-44B5787D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623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DE38D-FA0C-4EAC-A84D-98A7DAD2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24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0EF26-EE50-47D2-98F2-8FCE33BD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86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Oracle · SQL · Redis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C6B851-02A5-464F-870A-13CEBC6A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434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9A639E-3786-4E2B-97B0-7586B776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672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CF9F56-6AD3-41E5-9134-6FA0CF88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291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71AD41-3C98-4701-94DE-302D4BFC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991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배포 · 로그 · 검증</a:t>
            </a:r>
          </a:p>
        </p:txBody>
      </p:sp>
    </p:spTree>
    <p:extLst>
      <p:ext uri="{BB962C8B-B14F-4D97-AF65-F5344CB8AC3E}">
        <p14:creationId xmlns:p14="http://schemas.microsoft.com/office/powerpoint/2010/main" val="16957307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16D18E-402D-462A-A682-F1114C89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E5606-834F-44A4-B6E9-DCE0EBEE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D31A5-9C08-44C0-ABFE-5456958B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PROFILE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70595-F5F6-45F3-AA8E-2F7A6D24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서비스 전체 흐름을 고려한 백엔드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FB8D0-5619-4720-8736-DA2F3783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화면 단위를 넘어 API, 데이터, 배치, 운영 영향까지 연결한 구현 경험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831FC-BA2C-497D-83A3-0CB779E2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EXPERIENCE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F75B6-A8DF-43B6-B527-A15C8605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5+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B251E-583D-46F6-9403-C1F2F91E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526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F9F7A"/>
                </a:solidFill>
              </a:defRPr>
            </a:pPr>
            <a:r>
              <a:rPr sz="825" b="1" i="0">
                <a:solidFill>
                  <a:srgbClr val="0F9F7A"/>
                </a:solidFill>
              </a:rPr>
              <a:t>PRIMARY 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0959B-06A0-445A-B6E9-9EC1E47C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193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복지·여행 커머스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573661-0DBD-4F1A-B360-618E85B7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526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E6A5F"/>
                </a:solidFill>
              </a:defRPr>
            </a:pPr>
            <a:r>
              <a:rPr sz="825" b="1" i="0">
                <a:solidFill>
                  <a:srgbClr val="EE6A5F"/>
                </a:solidFill>
              </a:rPr>
              <a:t>CURRENT SCOPE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123251-6B90-4082-8ADB-C8CF07AC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API · Batch · DB · Search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DF6E0-645A-4DEB-9151-67B0AAC6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F9A177-7C44-4F0E-90E3-2D42FBF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3441B8-DC7D-47ED-BE7C-C88CF997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외부 연동의 입력부터 서비스 노출까지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E0892-4C69-4CAB-967C-C0D51BED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24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142212-2F8F-42E5-9476-521E0B2A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화면·API·DB·배치가 같은 데이터 기준을 보도록 구현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1D5F05-CD07-4B65-93DB-A7F3B646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33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261D02-15B3-4CE4-9279-7AE512CF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신규 기술도 실행·배포·관측 기준까지 연결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CB3C9-98A7-436D-B91B-6BD7979C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49720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F40A20-43EB-4753-A588-66655724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829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WORKING RANGE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47F4A5-4590-459B-BE56-92E4FA81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29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0FEB20-9BD1-4148-9480-B628DA63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291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536961-7745-435D-94F1-C636319C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62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F2CD0F-B3CA-4357-B6C8-E3279CC3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9BED4-D1B9-4B3F-A8A2-FF7C6A1D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소프트웨어학 학사  ·  정보처리기사  ·  SQLD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16B399-D0A2-466A-92AC-73F48DA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8F432A-EF51-414E-BBBA-EB934782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5C0C23-0AFD-46AA-B9DE-6DD62D94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532825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C8571E-27E0-4ED0-A22B-E9C300BC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5896F-152F-43FA-B08A-A8094C42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EB43A6-B038-4EC9-AEB8-1C9E055E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CAREER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F24B9-56D0-485F-B2C7-CEC3BABA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사내 시스템에서 외부 연동 플랫폼으로 확장된 책임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38453-BED1-44E0-BC65-BBC15CE8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두 회사의 개발 경력과 SK M&amp;Service 내 주요 서비스·프로젝트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2A2B8-E834-4B1B-8288-9C5D50C7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COMPANY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016F2-D759-46C2-ACEB-8F967C41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955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SK M&amp;Service / 주요 업무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223DD-19CC-4F96-9558-A8245508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2F4D4A-B078-48B0-8DD1-2B857BF7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683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A860B-2DB0-4239-A1ED-AAEB9EDA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95500"/>
            <a:ext cx="190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D69C5-BDF2-4915-9B72-3D37032D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AA3B2"/>
                </a:solidFill>
              </a:defRPr>
            </a:pPr>
            <a:r>
              <a:rPr sz="900" b="1" i="0">
                <a:solidFill>
                  <a:srgbClr val="9AA3B2"/>
                </a:solidFill>
              </a:rPr>
              <a:t>2020.11 - 2021.06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133C1B-3DAA-4240-B671-955D7B85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한성기업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C04C3-2497-4D58-BF0B-D601B6E6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24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Software Engineer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168D8C-2884-45E0-B814-BD713AE6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671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물류·주문 관련 사내 업무 웹 시스템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863454-39BC-4AAB-AC8C-97DB4B83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306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9BB5C-494B-4AFF-B28A-2040977D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2021.12 - Present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131EF5-8405-4D1C-921D-4FB05909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SK M&amp;Service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17D844-7847-46AD-9021-B065E733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Software Engineer · 복지·여행 커머스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530869-CB67-43F6-BAEC-724CCDBC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4795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CCC7E-DF97-4430-B800-BEAA1F78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4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2022.02 - 2024.03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130AAE-4F03-4DD6-994E-A74E9361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193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Benepia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BB23F-89F8-4CA6-91AA-24B2D67C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384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고객사별 복지 커머스 기능·보안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C20E4C-AD43-4787-BF3C-99B21D1D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3850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4195EA-CB35-44C5-9347-002987C1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46710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A9A801-DF5A-4DEF-9DF5-C2EAE900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671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E6A5F"/>
                </a:solidFill>
              </a:defRPr>
            </a:pPr>
            <a:r>
              <a:rPr sz="825" b="1" i="0">
                <a:solidFill>
                  <a:srgbClr val="EE6A5F"/>
                </a:solidFill>
              </a:rPr>
              <a:t>2023 · TF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15070E-7A80-4AB1-B009-CACA725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385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여행 AI Q&amp;A API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CA2EBB-1B49-4FB2-A719-5F8BA00E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575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Python/Flask API·운영 배포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F1AB8B-ED42-4D19-96C2-F3F775F1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05765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4D0C66-5CDD-4D81-85A9-EC24EB28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8625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818BA-896B-4EAD-A090-8BCEAB0F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862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F9F7A"/>
                </a:solidFill>
              </a:defRPr>
            </a:pPr>
            <a:r>
              <a:rPr sz="825" b="1" i="0">
                <a:solidFill>
                  <a:srgbClr val="0F9F7A"/>
                </a:solidFill>
              </a:rPr>
              <a:t>2024.04 - Present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BAAF9A-CF80-4F97-933A-5591C5CE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576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한국관광공사 휴가샵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D3FCCB-57A1-436B-BF6F-2A4FD5CA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767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사용자·운영·포인트·통계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E006E7-C9B7-455E-860D-28E94B67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7680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A7DC2A-2A29-4839-8380-1AE59C16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137DE4-B544-40D0-8277-098AEFD5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105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2025 - Present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92FAB1-C060-498D-9F8E-E9BA0B73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0768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여행·레저 제휴 연동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C38FDC-321C-48DF-A22F-500A6391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95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주문·상품·검색·온보딩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7CCC94-8EBF-44A8-A790-EC8A4F7F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C4B509-3330-495F-97B8-78DDE2B1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D470BD-6DBA-408A-A4E4-6A677B5D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44389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C3F351-A4BD-42A4-848A-39EE7901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2CFB5-99EE-4271-A5B3-CC32131C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E9625-0B7D-4931-B43A-56F0601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TECHNICAL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5DB2C-0115-4F1F-9D28-3E6CF16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Java/Spring Boot 기반, 데이터와 운영 중심의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652B64-DF24-413A-9DC5-2ACEBD88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실제 적용 범위와 책임 수준을 기준으로 한 기술 분류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F2C95-5E66-495C-8152-98ED6D86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9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62648-43B9-4664-A5E2-EBF3233B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4312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주력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63583-E473-4C52-9EFA-81C58D28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114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157FF"/>
                </a:solidFill>
              </a:defRPr>
            </a:pPr>
            <a:r>
              <a:rPr sz="1050" b="1" i="0">
                <a:solidFill>
                  <a:srgbClr val="3157FF"/>
                </a:solidFill>
              </a:rPr>
              <a:t>BACKEND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9EB0A4-851C-4047-9056-0B9EF69A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76450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Java · Spring Boot · REST API · Batch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ED472-3A8A-401C-B1F1-5CFBC7AE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A108B-4078-4B82-A62C-9E4065FE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FF6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309FC-CCB7-4C86-A472-BBFDCDD3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주력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D0C36D-D7FC-4A56-B023-0094731D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7527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F9F7A"/>
                </a:solidFill>
              </a:defRPr>
            </a:pPr>
            <a:r>
              <a:rPr sz="1050" b="1" i="0">
                <a:solidFill>
                  <a:srgbClr val="0F9F7A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282B5D-64C5-4401-8A38-DD538273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14625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Oracle · SQL · MyBatis · PL/SQL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C87AD7-9A6C-4D0D-94A6-6A49D846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BBC23A-5D35-41BF-841D-5E3D64DC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79071B-13C5-45F5-BF18-98DBA8D6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1947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실무 적용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FD20A-F3FE-46CE-A84E-A4E5EAA6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90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E6A5F"/>
                </a:solidFill>
              </a:defRPr>
            </a:pPr>
            <a:r>
              <a:rPr sz="1050" b="1" i="0">
                <a:solidFill>
                  <a:srgbClr val="EE6A5F"/>
                </a:solidFill>
              </a:rPr>
              <a:t>STATE / CACHE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C31768-C2A1-4653-800F-CC8F4602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52800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Redis · Spring Session · Spring Cache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2DB9B3-5E89-47C2-A0C6-95C4FE0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9572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56BBC6-6D2D-4744-A737-FAA20A6D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10025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9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E69FCC-8C70-4DB2-B0FD-0623AFD5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576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실무 경험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47380F-6114-45CE-9722-DF89AC98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290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157FF"/>
                </a:solidFill>
              </a:defRPr>
            </a:pPr>
            <a:r>
              <a:rPr sz="1050" b="1" i="0">
                <a:solidFill>
                  <a:srgbClr val="3157FF"/>
                </a:solidFill>
              </a:rPr>
              <a:t>INTEGRATION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0DB0B5-647B-4987-BF60-23B31895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90975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Partner API · Java Concurrency · WebFlux / WebClient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765136-D448-4410-BBC7-4E5A1FF1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196689-5854-478F-B9F9-8876A1CD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48200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FF6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AD5F91-CD95-4B7D-A7F7-2843B48E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프로젝트 적용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D0D5DA-F67E-4B49-9B8B-DD74F705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6672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F9F7A"/>
                </a:solidFill>
              </a:defRPr>
            </a:pPr>
            <a:r>
              <a:rPr sz="1050" b="1" i="0">
                <a:solidFill>
                  <a:srgbClr val="0F9F7A"/>
                </a:solidFill>
              </a:rPr>
              <a:t>DELIVERY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5F8E48-E93D-4B4F-B890-FFC1C833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29150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Docker · GitLab CI · Jenkins · Nomad · Linux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0B9905-F784-45EC-B4CA-B6B720F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720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803775-B05D-4395-A56F-4E28CE86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86375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7E8CA0-4C11-4806-896C-FD0E53B7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프로젝트 적용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8E5A03-69DB-450D-B461-FD8683B3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3054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E6A5F"/>
                </a:solidFill>
              </a:defRPr>
            </a:pPr>
            <a:r>
              <a:rPr sz="1050" b="1" i="0">
                <a:solidFill>
                  <a:srgbClr val="EE6A5F"/>
                </a:solidFill>
              </a:rPr>
              <a:t>AI / PYTHON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97558B-E702-4116-B6D3-1192B443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67325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Python · Flask · Azure OpenAI · Structured Response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FA7BCB-FAF8-4EDE-AF71-A646B601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4AEF4D-89BC-4715-8346-6ED0148D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ECD302-D126-49A0-B96D-59577E79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9822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EE3AC9-5728-4B51-B47A-DE13957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2379B-5E1D-4B49-98A4-6826234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67CB9-B284-47D2-A759-955ED55E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ABC46-CBF9-4711-A51B-37442DEC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제휴사별 조건을 공통 검증 흐름으로 표준화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13CCD-D698-434B-9CD1-C5CBE932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여행·레저 제휴 연동 플랫폼  ·  2025 - 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02CED-0156-4ACA-A99C-7BBAAC89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EE6A5F"/>
                </a:solidFill>
              </a:defRPr>
            </a:pPr>
            <a:r>
              <a:rPr sz="1425" b="1" i="0">
                <a:solidFill>
                  <a:srgbClr val="EE6A5F"/>
                </a:solidFill>
              </a:rPr>
              <a:t>과제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5B465E-3C16-4E93-A4EF-A2070B6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57400"/>
            <a:ext cx="9410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제휴사마다 다른 API 응답, 파일, 상품 유형, 검색 조건과 접속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62911-D94B-4337-A2F6-23D29483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F9F7A"/>
                </a:solidFill>
              </a:defRPr>
            </a:pPr>
            <a:r>
              <a:rPr sz="1425" b="1" i="0">
                <a:solidFill>
                  <a:srgbClr val="0F9F7A"/>
                </a:solidFill>
              </a:rPr>
              <a:t>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4F61F6-E421-40B8-953D-5C5907C8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628900"/>
            <a:ext cx="941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실시간 주문 API와 일배치, 적재·정규화·재처리·검색 노출을 연결한 검증 흐름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A4747-BE27-4B7A-A992-6B4898AF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157FF"/>
                </a:solidFill>
              </a:defRPr>
            </a:pPr>
            <a:r>
              <a:rPr sz="1425" b="1" i="0">
                <a:solidFill>
                  <a:srgbClr val="3157FF"/>
                </a:solidFill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F80973-C0B7-4BEC-867E-89BABA59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57550"/>
            <a:ext cx="941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신규 제휴 온보딩 주도, 점검 항목과 대외 기술 커뮤니케이션 기준 표준화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50D6C9-4E98-4467-BD71-D7D96392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971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80506-6505-4BAA-B097-4A7598CC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316B08-D368-49BB-867D-0C7FEC4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PARTNER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E792FD-98F1-4C51-A823-CC1AC45D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API / FILE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66ED1-8BAC-4758-A6C7-ED609912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D95B6A-BB35-48A4-9F7B-E380F04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INGEST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76112D-6734-41DE-A6E1-0962CB51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API / BATCH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2E573E-33ED-404A-8CA2-DF1BE851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BA380D-27A5-4A4A-939C-D1796892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PROCESS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9C4CF9-24C6-4AB2-9BA9-49126762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NORMALIZE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E01557-D8A1-4482-83FA-E07647EC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600ECD-F3A1-46B2-8E36-89E2233D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STORE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6554C5-78BF-45FF-A778-3D659AD6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ORACLE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3EB006-D7F1-4FAF-BD9D-5184CC56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543BE9-4D86-4382-9E0A-EAF9C418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VERIFY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132DA8-4D7B-4475-8707-ADABF7FC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PARALLEL API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EE9F33-DD00-4687-8ED9-481F4214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0D296-7D72-4980-AAE3-BA04590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SERVE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D158BF-B355-4854-BA15-AC5CD2F7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EXPOSURE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473254-9004-438E-9747-B5DD349A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0F6097-FD68-451A-92F6-95B77B55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7912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722"/>
                </a:solidFill>
              </a:defRPr>
            </a:pPr>
            <a:r>
              <a:rPr sz="1275" b="1" i="0">
                <a:solidFill>
                  <a:srgbClr val="121722"/>
                </a:solidFill>
              </a:rPr>
              <a:t>재사용 가능한 온보딩 체크리스트 구축, 데이터 불일치 원인 추적 범위 축소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BFB8BA-BF77-42F3-8A13-4A3F8EEC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E02B1B-A074-4907-9DE6-AA34E82D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9C8353-F169-4608-9806-D950B1B1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462622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337CA4-BFBB-49B3-9094-826A6ABA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3E1EC-A3F0-4E3F-ADBF-51562D26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0F8D77-2BF3-4C4A-ABF5-6730D021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DEEP DIVE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F54C9E-850E-40FE-ADCC-B5A51F89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복수 제휴사 병렬 검색의 안정성 개선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3F39E-66CF-4201-89B4-DFC46F24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적용된 Thread·WebFlux 경로를 분석하고, 순서 안정화와 부분 실패 격리를 개선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1C84B-BC6C-4026-81E2-DB76E755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316230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F69178-ECC6-4BE6-9638-877A365D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SERVICE STRUCTURE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A76CE-402B-451E-9497-3989556F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병렬 검색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BD84F-F708-4591-9FFA-80DE1488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B8C0CE"/>
                </a:solidFill>
              </a:defRPr>
            </a:pPr>
            <a:r>
              <a:rPr sz="1275" b="0" i="0">
                <a:solidFill>
                  <a:srgbClr val="B8C0CE"/>
                </a:solidFill>
              </a:rPr>
              <a:t>Thread / WebFlux 경로가</a:t>
            </a:r>
          </a:p>
          <a:p xmlns:a="http://schemas.openxmlformats.org/drawingml/2006/main">
            <a:pPr algn="l">
              <a:defRPr sz="1275" b="0" i="0">
                <a:solidFill>
                  <a:srgbClr val="B8C0CE"/>
                </a:solidFill>
              </a:defRPr>
            </a:pPr>
            <a:r>
              <a:rPr sz="1275" b="0" i="0">
                <a:solidFill>
                  <a:srgbClr val="B8C0CE"/>
                </a:solidFill>
              </a:rPr>
              <a:t>공존하는 운영 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14F06-681D-47A0-A35C-A63A3945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85A0FF"/>
                </a:solidFill>
              </a:defRPr>
            </a:pPr>
            <a:r>
              <a:rPr sz="1125" b="1" i="0">
                <a:solidFill>
                  <a:srgbClr val="85A0FF"/>
                </a:solidFill>
              </a:rPr>
              <a:t>CompletableFuture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BCE22-855C-4070-A4B9-A056D71A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339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85A0FF"/>
                </a:solidFill>
              </a:defRPr>
            </a:pPr>
            <a:r>
              <a:rPr sz="1125" b="1" i="0">
                <a:solidFill>
                  <a:srgbClr val="85A0FF"/>
                </a:solidFill>
              </a:rPr>
              <a:t>ThreadPoolTaskExecutor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09B7F-A765-4C22-B1CE-BA1D745E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38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4D3AD"/>
                </a:solidFill>
              </a:defRPr>
            </a:pPr>
            <a:r>
              <a:rPr sz="1125" b="1" i="0">
                <a:solidFill>
                  <a:srgbClr val="54D3AD"/>
                </a:solidFill>
              </a:rPr>
              <a:t>WebFlux · WebClient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EBABF-138F-4FCF-95B8-DFE86316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526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B83976-C113-4953-8492-A4B606B1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145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병렬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5B007-9EFC-4981-A914-48401D0A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14550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검색 후보를 제휴사별 API로 동시에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F114A4-457B-44D3-8752-F03BDBCC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687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0647A7-090D-4BC3-A0B7-AF32C039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813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30BA38-55A4-480D-8BD6-E3ABA6E8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43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순서 안정화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80C028-E9E8-483A-A8CC-DF76B90F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43225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비동기 작업·결과 집계 순서 안정화 참여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50B975-BEDB-4021-8598-9D98EC86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33775"/>
            <a:ext cx="687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381F9B-F2F1-4057-8D26-38FA8454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100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36AB0F-6390-432D-A44C-CED9A6D3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71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실패 격리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EF20E7-3AD0-4199-AAE4-14BA59CC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71900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응답 검증과 제휴사 단위 예외 처리 직접 개선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7BC9A3-5F95-4994-AF5F-AB3279B7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62450"/>
            <a:ext cx="687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39F715-5D91-4A70-B4F1-1225BD0A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386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28AF7C-3466-4147-9DE3-DD6A4D15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600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구조 분석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C83B3B-15D5-4CC7-A70F-16A524D3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00575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현재 WebFlux 경로와 선택 가능한 Thread 경로 분석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DCA15E-CFD7-493A-8AF8-B0B9D165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197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E6A5F"/>
                </a:solidFill>
              </a:defRPr>
            </a:pPr>
            <a:r>
              <a:rPr sz="1050" b="1" i="0">
                <a:solidFill>
                  <a:srgbClr val="EE6A5F"/>
                </a:solidFill>
              </a:rPr>
              <a:t>담당 범위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FFC47D-BEBE-45AE-81F0-E1D735E2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581650"/>
            <a:ext cx="584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기능 개발·운영 · 순서 안정화 참여 · 실패 격리 직접 개선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FDEA9F-22D7-4F52-A62E-3673D9C9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4E4D4D-1FF4-4E35-9F38-1F6BE176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28935A-56A2-4A11-965F-4A522B66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682236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3F0A8B-6333-42B1-8A88-50EE5226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4CFC1-06D0-47EB-BC67-6C428C43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0AF9E-59C4-4119-B1AA-5CF0F81E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C6A3F-59F3-4F73-BC58-23400F42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화면·포인트·통계 기준을 연결한 휴가샵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C2D809-2CBA-4008-9012-EA80613D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F9F7A"/>
                </a:solidFill>
              </a:defRPr>
            </a:pPr>
            <a:r>
              <a:rPr sz="975" b="1" i="0">
                <a:solidFill>
                  <a:srgbClr val="0F9F7A"/>
                </a:solidFill>
              </a:rPr>
              <a:t>한국관광공사 휴가샵 Web/App 커머스 서비스  ·  2024.04 - 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E5FF8-8515-4767-9C65-F7CF67FF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108966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BEECE-849D-4D5E-9E12-9789D1AA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2D0F8-B3CA-419F-992C-507FBB7F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4790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상품 탐색 · 주문/취소 · 포인트 사용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258E50-D74E-4FCC-AF37-D8227FE1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108966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E4BCA9-62B2-4DF8-882F-0820D817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24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EE6A5F"/>
                </a:solidFill>
              </a:defRPr>
            </a:pPr>
            <a:r>
              <a:rPr sz="975" b="1" i="0">
                <a:solidFill>
                  <a:srgbClr val="EE6A5F"/>
                </a:solidFill>
              </a:rPr>
              <a:t>OPERATIONS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A6BDB-851E-4838-B822-7275EBF3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8610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상품 노출 · 대량 처리 · 메시지 대상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87A46-A717-4154-B2D8-BCA311DB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108966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E2798-98DE-413A-99F9-E431F0C0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624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F9F7A"/>
                </a:solidFill>
              </a:defRPr>
            </a:pPr>
            <a:r>
              <a:rPr sz="975" b="1" i="0">
                <a:solidFill>
                  <a:srgbClr val="0F9F7A"/>
                </a:solidFill>
              </a:rPr>
              <a:t>REPORTING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93A7C-AA78-408A-89E6-3B9F020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2430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고객사 조회 · 주문/포인트 통계 · 엑셀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EEF429-2CEC-40BE-8B39-9ADE7E9A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대표 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806E69-547C-49D0-8DB9-5A07A195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AF9B0-EAF7-4A44-8FC7-1001B3E1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876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재원별 포인트 기준을 주문·통계 산출에 일관되게 반영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D054C7-706A-491F-A328-8B258DA2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88059B-4AA7-4A53-8CD1-E7CCD1B9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876800"/>
            <a:ext cx="445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Redis 기반 Spring Session과 검색·외부 API 응답 캐시 흐름 분석 및 기능 개발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B57540-42ED-41CD-AA25-BB57F8C8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05F395-1390-4B5D-81C1-8F959A3A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24500"/>
            <a:ext cx="428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국회요구자료 통계와 일일 리포트의 원천 데이터를 조회·엑셀 흐름으로 구현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D0ACD8-D498-461C-A349-54AC23BA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600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D27C21-532D-45CD-8CEE-657C4497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524500"/>
            <a:ext cx="4457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부적합 상품 관리와 반복 대량 업무를 운영자 기능으로 전환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5A04E2-4162-4CDA-BCAF-66217FA4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C7A6E4-2709-47C0-A86F-6DB61668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FFD9F6-3B9A-4C75-A911-007B2E4A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314019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4D5B7F-DBCA-4033-B9E5-339E46B2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E8732-6CA4-4003-9FDA-A937104B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13A89-2944-4D6D-A9CA-668E980E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CLIENT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9F550E-C784-46A8-B823-C7C746E0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공통 플랫폼 기반 고객사별 정책·보안 반영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15049-D53A-4B8F-BD39-B9F8846E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EE6A5F"/>
                </a:solidFill>
              </a:defRPr>
            </a:pPr>
            <a:r>
              <a:rPr sz="975" b="1" i="0">
                <a:solidFill>
                  <a:srgbClr val="EE6A5F"/>
                </a:solidFill>
              </a:rPr>
              <a:t>Benepia 복지 커머스 플랫폼  ·  2022.02 - 2024.03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70F7C-045C-4693-834D-260A2305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4099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B049E-2314-4E76-9577-8E089942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COMMON PLATFORM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8B34D-DA4A-4B1E-BBC7-D336A472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Java / 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DE302-5B79-4F73-91CE-3D809066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JSP / JavaScript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02B08-D0D9-4B87-A532-08A5756F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95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Oracle / MyBatis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EB2D8-D56B-4B58-87B3-8A3D3917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Redis Session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EBBA1C-0E2F-47FA-8196-6DE4A774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2290B-DD82-420B-9AA6-D0488FFF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B8C0CE"/>
                </a:solidFill>
              </a:defRPr>
            </a:pPr>
            <a:r>
              <a:rPr sz="1125" b="0" i="0">
                <a:solidFill>
                  <a:srgbClr val="B8C0CE"/>
                </a:solidFill>
              </a:rPr>
              <a:t>공통 동선과 다른 고객사에</a:t>
            </a:r>
          </a:p>
          <a:p xmlns:a="http://schemas.openxmlformats.org/drawingml/2006/main">
            <a:pPr algn="l">
              <a:defRPr sz="1125" b="0" i="0">
                <a:solidFill>
                  <a:srgbClr val="B8C0CE"/>
                </a:solidFill>
              </a:defRPr>
            </a:pPr>
            <a:r>
              <a:rPr sz="1125" b="0" i="0">
                <a:solidFill>
                  <a:srgbClr val="B8C0CE"/>
                </a:solidFill>
              </a:rPr>
              <a:t>영향이 없는 범위로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183F9-1E47-42A0-86CA-F558BE09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고객사별 요구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A2442-5D4F-4E2E-8E87-EB813965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61DC50-7052-45B9-858C-C0691D9A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09850"/>
            <a:ext cx="601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복지카드 · 예약/신청 · 개인정보/동의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07DF77-D8E9-4519-B2A3-5B739AE2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1A4EC6-F778-4042-8D78-85887837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601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PC/Mobile 화면과 백오피스 데이터 동시 반영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110BA-8EB2-4E67-B026-2CA5564E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90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65CDBF-2154-4E11-83CD-C0F03846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14750"/>
            <a:ext cx="601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현재값과 변경 이력을 함께 관리하는 데이터 구조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78716-68A6-4FB7-A5AC-546C9CCD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552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검증 기준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EBAAE5-D423-4DC5-86B2-9415D049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9720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로그인·신청·조회·동의 저장 흐름을 유지한 상태에서 XSS/CSRF, 접근제어, 세션, 정보노출 항목 조치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DE492D-A11F-41E4-9C86-56DE8B3E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8483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ISMS / e-privacy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6E4399-73AD-48E8-A90D-CEB7B63E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F50B2E-F5B9-4841-95B2-9ACC5CCE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20192A-DCCA-41D8-9644-A6817F08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4612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9BD8E5-8A9F-4E36-A62C-AD79C1E2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8E3A6-4F81-4DE7-AD1D-5108973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0D6AA-B4E0-4E99-90DC-2A27014C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FF9CE-7D3D-49DD-8DC8-DFEA9FE1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Python AI API 구축과 운영 배포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80560-760F-4F0D-B898-90D54D82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여행 AI Q&amp;A API  ·  2023 TF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B31285-A18F-454F-B58B-7B384D5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직접 구현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FE492-DA1B-4A1D-B8FA-2B6601D9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30447-3EE3-40E6-9620-DB0ADFDF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Python/Flask Gateway API와 요청·응답 JSON 설계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B50F3-D96E-4A0C-A803-AA8F6567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E572F-8BC5-40F0-8D47-D3E4AE99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질문 범위 판별과 답변 생성의 2단계 GPT 호출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4EF6F-F3A4-4CE1-A825-77D564EA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F7A74-B739-40FF-AEF7-B6850A31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Oracle 대화 이력과 세션별 최근 맥락 관리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3F846-9BD9-4FBF-84CB-35900AF6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F7FCA-EF8A-4F62-BFBC-AD3FB36B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Docker · GitLab CI · Nomad · health check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76F4C-5852-42B5-89E6-9CE8999F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24450"/>
            <a:ext cx="5410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58F70-C612-4A0F-878E-5FA3C4B2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149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RESULT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6923D-FD32-40D1-A2FB-C289C448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578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전사 첫 Python/Flask 기반 AI Gateway API 구현,</a:t>
            </a:r>
          </a:p>
          <a:p xmlns:a="http://schemas.openxmlformats.org/drawingml/2006/main">
            <a:pPr algn="l"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서비스 API와 운영 런타임 연결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4990B-89CB-4C87-9D59-D3F417A8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43100"/>
            <a:ext cx="48768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e87929b1b4c07"/>
          <a:stretch xmlns:a="http://schemas.openxmlformats.org/drawingml/2006/main"/>
        </p:blipFill>
        <p:spPr>
          <a:xfrm xmlns:a="http://schemas.openxmlformats.org/drawingml/2006/main">
            <a:off x="6877050" y="2292659"/>
            <a:ext cx="1352550" cy="3339482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2a132447184ec5"/>
          <a:stretch xmlns:a="http://schemas.openxmlformats.org/drawingml/2006/main"/>
        </p:blipFill>
        <p:spPr>
          <a:xfrm xmlns:a="http://schemas.openxmlformats.org/drawingml/2006/main">
            <a:off x="8420100" y="2292659"/>
            <a:ext cx="1352550" cy="3339482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6f24b96064e31"/>
          <a:stretch xmlns:a="http://schemas.openxmlformats.org/drawingml/2006/main"/>
        </p:blipFill>
        <p:spPr>
          <a:xfrm xmlns:a="http://schemas.openxmlformats.org/drawingml/2006/main">
            <a:off x="10169742" y="2133600"/>
            <a:ext cx="939367" cy="3657600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7017D6-442E-49D9-A4C4-2B3DD8F7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5AD20-DF6F-44F3-ACC7-90FE1D70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9FD646-89A1-4FB2-8CEB-725FB99E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005957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06587B-DCB2-47B7-94E9-95172C2B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E1BEB-845C-44D6-A68C-F8B616E6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5A8FE-04F2-4734-A508-67E549EB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ENGINEERING APPROACH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08338-68F7-471F-8322-0EAE06F1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AI-DLC: AI를 활용한 문제 분석과 검증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2A823-47FE-4A36-83C5-65468F5D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AI의 후보 제안과 개발자의 근거 검증을 분리한 업무 방식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7728E7-1051-4A61-A4C1-E3CD4CB8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AB330-F642-410C-B073-07D8AA7C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34ADA-668C-4716-8447-F7EC15D3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E50E9D-8E1E-4C8C-9C5C-E4E18B8B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요청값, 실행 시점,</a:t>
            </a:r>
          </a:p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데이터 상태를 고정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0E3CE-F3C0-4E4B-993B-BC59B54B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DD2D8A-F648-48EC-8E91-1F248A37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11765-3D6D-4C0D-82AC-EAC58C14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분리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C41884-CED9-47A6-A487-58E0FDA8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API · Batch · DB · Search</a:t>
            </a:r>
          </a:p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중 원인 계층을 구분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9129F2-D1E7-4FF7-A95E-43956FBB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BB1D7-B5A3-4162-842B-D3A86FB8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7F8A78-D71B-41CE-9A15-63411669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534531-C39B-43CC-946C-5C2353D3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코드 · SQL · 로그 · 테스트로</a:t>
            </a:r>
          </a:p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후보를 반증하거나 확정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CE1FCB-0356-45BD-B5D4-8FD48FA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9717BC-CD65-4B31-8E2E-3E76E8F9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648F77-1BBB-42BC-BC23-13DCDDD8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축적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983D02-A58F-49D6-B072-4710F4F5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체크리스트와 재처리 기준으로</a:t>
            </a:r>
          </a:p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다음 분석에 재사용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F947C3-B990-4E68-B671-E3066CCB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43450"/>
            <a:ext cx="10896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41B85D-4E5C-4692-A002-A207BA06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01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AI-DLC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7949B8-A86A-4667-8B21-09FE76EA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14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5A0FF"/>
                </a:solidFill>
              </a:defRPr>
            </a:pPr>
            <a:r>
              <a:rPr sz="900" b="1" i="0">
                <a:solidFill>
                  <a:srgbClr val="85A0FF"/>
                </a:solidFill>
              </a:rPr>
              <a:t>AI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55486-4249-4046-A9BA-978C6630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181600"/>
            <a:ext cx="3257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업무 맥락 정리 · 원인 후보 도출</a:t>
            </a:r>
          </a:p>
          <a:p xmlns:a="http://schemas.openxmlformats.org/drawingml/2006/main">
            <a:pPr algn="l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확인 순서 제안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26EC9-EC65-4B99-836E-9BDC2AC4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933950"/>
            <a:ext cx="95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F1DE08-ECE9-4B27-A60B-3BD01A40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149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54D3AD"/>
                </a:solidFill>
              </a:defRPr>
            </a:pPr>
            <a:r>
              <a:rPr sz="900" b="1" i="0">
                <a:solidFill>
                  <a:srgbClr val="54D3AD"/>
                </a:solidFill>
              </a:rPr>
              <a:t>DEVELOPER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B48A55-CBEA-439F-86BB-2C8DD398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1816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코드 · SQL · 로그 · 테스트를 근거로</a:t>
            </a:r>
          </a:p>
          <a:p xmlns:a="http://schemas.openxmlformats.org/drawingml/2006/main">
            <a:pPr algn="l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최종 판단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1C1349-0B43-4AD0-8EE2-7BC82614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B3FC8A-C171-46C3-AED9-8E93B575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280173-BC69-4BDC-96FF-51A2EC37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32520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E72572-3A3B-48E0-86E5-1646E636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B5A07-B476-4D82-8DB5-550F93DD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DBA14E-08CC-4A5C-9AF1-CF3507C0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SELECTED 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2EB22-0E6D-4AAF-8E1C-993B27C7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프로젝트별 책임 범위와 기술 적용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90769-7EA2-4833-8CF5-7B6C50C9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대표 프로젝트의 역할, 기술, 결과 요약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0682B-6335-485F-9B9C-7EAA2683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E959B-EA2B-458D-922E-6BA75C79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0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717C5-A06D-4EEA-A084-7E7A3D7A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00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74941-7D66-4A4E-81F2-0A0FF4E3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00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OUTCOME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97217-3E73-4CCE-8661-77A0811D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0254E-4D2E-4A46-9ECF-E39F1691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157FF"/>
                </a:solidFill>
              </a:defRPr>
            </a:pPr>
            <a:r>
              <a:rPr sz="1350" b="1" i="0">
                <a:solidFill>
                  <a:srgbClr val="3157FF"/>
                </a:solidFill>
              </a:rPr>
              <a:t>여행·레저 제휴 연동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84082-F722-49E5-B374-21467C34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717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API · Batch · 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E0F351-C0F4-47DF-89DC-4819D74D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717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Java · Concurrency · WebFlux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C3EAF9-9704-4321-9331-B03904B5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717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순서 안정화·실패 격리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A27B1-3D85-4C47-AFC1-71716B4F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C782DD-0FE6-4E08-93C0-29E61771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KTO 휴가샵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EB044-73EC-465E-942A-60F67242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3909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사용자 · 운영 · 통계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998770-1D4E-4DF2-8397-D99520AD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3909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Oracle · Redis · Batch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2E0A22-6930-4426-A9AA-057E25F0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909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포인트·통계 기준 연결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EBF347-2115-43A5-B9E7-E2DA6C9C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624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38828-D820-4ADE-BE07-F56E0C78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Benepia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10A8FD-6D45-4321-B6B0-A6FB0B6A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고객사 기능 · 보안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0A60BA-DAD0-42AC-9EFD-60A7A1EC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100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Java · JSP · Oracle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98A629-C973-468A-8AC4-21A51A1A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공통 플랫폼 영향 통제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D1B8C6-8D64-4E10-ACE5-A5FEF84C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52158C-DBD7-4C40-B618-0CC2EABE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여행 AI Q&amp;A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EFC246-97D2-456D-A355-28543B76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0292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AI Gateway · Runtime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166E4E-0598-4DAF-81E6-8D556518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292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Python · Flask · Docker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1369D-6F0B-4A97-AD37-7458EF35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0292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구현부터 배포 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CB6F54-66AE-4D7E-AA54-E8009B6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FE3868-653B-41C4-B4E7-CF9BEBC7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436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공통 기준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A16AC2-98F2-46A9-BFD2-F5988227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722"/>
                </a:solidFill>
              </a:defRPr>
            </a:pPr>
            <a:r>
              <a:rPr sz="1275" b="1" i="0">
                <a:solidFill>
                  <a:srgbClr val="121722"/>
                </a:solidFill>
              </a:rPr>
              <a:t>서비스 반영 전후 전체 흐름 확인, 운영에서 다시 검증 가능한 구조로 정리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341FAF-1049-46E5-A6CD-89448500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CAD7F5-49E9-495B-AE1E-772328A8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561E52-6E15-41BC-81E3-00AA1C23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20838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9F02F3-CF25-4B23-8E8D-8EB8A41B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49495-8D24-4346-A226-0264F21A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HEETAE LEE  /  SOFTWARE ENGINEER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1BFBA-BCAA-4AEA-8FC7-48FF8366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1445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722"/>
                </a:solidFill>
              </a:defRPr>
            </a:pPr>
            <a:r>
              <a:rPr sz="3450" b="1" i="0">
                <a:solidFill>
                  <a:srgbClr val="121722"/>
                </a:solidFill>
              </a:rPr>
              <a:t>API·데이터·배치·운영을</a:t>
            </a:r>
          </a:p>
          <a:p xmlns:a="http://schemas.openxmlformats.org/drawingml/2006/main">
            <a:pPr algn="l">
              <a:defRPr sz="3450" b="1" i="0">
                <a:solidFill>
                  <a:srgbClr val="121722"/>
                </a:solidFill>
              </a:defRPr>
            </a:pPr>
            <a:r>
              <a:rPr sz="3450" b="1" i="0">
                <a:solidFill>
                  <a:srgbClr val="121722"/>
                </a:solidFill>
              </a:rPr>
              <a:t>함께 다루는 백엔드 개발자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48336-3D1D-4591-8C76-08785B88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3157FF"/>
                </a:solidFill>
              </a:defRPr>
            </a:pPr>
            <a:r>
              <a:rPr sz="1575" b="1" i="0">
                <a:solidFill>
                  <a:srgbClr val="3157FF"/>
                </a:solidFill>
              </a:rPr>
              <a:t>외부 연동과 데이터 흐름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07BEE-0DE6-4BB1-AEF2-3A7B47CC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766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0F9F7A"/>
                </a:solidFill>
              </a:defRPr>
            </a:pPr>
            <a:r>
              <a:rPr sz="1575" b="1" i="0">
                <a:solidFill>
                  <a:srgbClr val="0F9F7A"/>
                </a:solidFill>
              </a:rPr>
              <a:t>기능 개발부터 운영 검증까지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78773-7A29-469D-9A5A-0395AE53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EE6A5F"/>
                </a:solidFill>
              </a:defRPr>
            </a:pPr>
            <a:r>
              <a:rPr sz="1575" b="1" i="0">
                <a:solidFill>
                  <a:srgbClr val="EE6A5F"/>
                </a:solidFill>
              </a:rPr>
              <a:t>신규 기술을 실행 가능한 서비스로 연결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0FA24-1231-4498-BE19-CD580BB6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647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82941-5254-4AA0-8246-CA754368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53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AA3B2"/>
                </a:solidFill>
              </a:defRPr>
            </a:pPr>
            <a:r>
              <a:rPr sz="900" b="1" i="0">
                <a:solidFill>
                  <a:srgbClr val="9AA3B2"/>
                </a:solidFill>
              </a:rPr>
              <a:t>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519D2-6E37-4020-AB56-F965FCDB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959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https://heetae-l.github.io/ko/portfolio/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F9CEC-8D44-403D-8384-7793CC5C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0"/>
            <a:ext cx="403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A583A-448C-4ED8-9673-BF247429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4859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B758D4-62BA-4D08-831A-6C629B7E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5E1B5-9857-44D6-B5D4-78FB29BB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004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A1C680-C51B-4A33-A181-1614E6EB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576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F3174-20DE-4024-A9DB-4E142DD1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0101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8110F1-DDC2-41B4-8F93-9483677C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3340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8993A7"/>
                </a:solidFill>
              </a:defRPr>
            </a:pPr>
            <a:r>
              <a:rPr sz="900" b="1" i="0">
                <a:solidFill>
                  <a:srgbClr val="8993A7"/>
                </a:solidFill>
              </a:rPr>
              <a:t>PORTFOLIO 2026</a:t>
            </a:r>
          </a:p>
        </p:txBody>
      </p:sp>
    </p:spTree>
    <p:extLst>
      <p:ext uri="{BB962C8B-B14F-4D97-AF65-F5344CB8AC3E}">
        <p14:creationId xmlns:p14="http://schemas.microsoft.com/office/powerpoint/2010/main" val="11700820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2026-07-22T11:47:45.8260000Z</dcterms:created>
  <dcterms:modified xsi:type="dcterms:W3CDTF">2026-07-22T11:47:45.8260000Z</dcterms:modified>
</coreProperties>
</file>