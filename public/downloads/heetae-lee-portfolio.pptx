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97d2b83149485d" /><Relationship Type="http://schemas.openxmlformats.org/officeDocument/2006/relationships/extended-properties" Target="/docProps/app.xml" Id="Rda6672711a35406e" /><Relationship Type="http://schemas.openxmlformats.org/officeDocument/2006/relationships/officeDocument" Target="/ppt/presentation.xml" Id="Ra97f647940d245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63b7c7620046a9"/>
  </p:sldMasterIdLst>
  <p:notesMasterIdLst>
    <p:notesMasterId xmlns:r="http://schemas.openxmlformats.org/officeDocument/2006/relationships" r:id="Rc78c8d66333e41bb"/>
  </p:notesMasterIdLst>
  <p:sldIdLst>
    <p:sldId xmlns:r="http://schemas.openxmlformats.org/officeDocument/2006/relationships" id="256" r:id="R9fb7676cd19b491e"/>
    <p:sldId xmlns:r="http://schemas.openxmlformats.org/officeDocument/2006/relationships" id="257" r:id="Rb674dfba38824a45"/>
    <p:sldId xmlns:r="http://schemas.openxmlformats.org/officeDocument/2006/relationships" id="258" r:id="R138a8fff4d8046b8"/>
    <p:sldId xmlns:r="http://schemas.openxmlformats.org/officeDocument/2006/relationships" id="259" r:id="Rd37547115de64ff9"/>
    <p:sldId xmlns:r="http://schemas.openxmlformats.org/officeDocument/2006/relationships" id="260" r:id="R797fec7445324cea"/>
    <p:sldId xmlns:r="http://schemas.openxmlformats.org/officeDocument/2006/relationships" id="261" r:id="Rfe7447142f064bf5"/>
    <p:sldId xmlns:r="http://schemas.openxmlformats.org/officeDocument/2006/relationships" id="262" r:id="Rfbccddc59fa4482a"/>
    <p:sldId xmlns:r="http://schemas.openxmlformats.org/officeDocument/2006/relationships" id="263" r:id="R5fc7614c98254080"/>
    <p:sldId xmlns:r="http://schemas.openxmlformats.org/officeDocument/2006/relationships" id="264" r:id="Rf94b9883b6e045ad"/>
    <p:sldId xmlns:r="http://schemas.openxmlformats.org/officeDocument/2006/relationships" id="265" r:id="Rc46fb48c015c44ed"/>
    <p:sldId xmlns:r="http://schemas.openxmlformats.org/officeDocument/2006/relationships" id="266" r:id="R9f320f3477554c5a"/>
    <p:sldId xmlns:r="http://schemas.openxmlformats.org/officeDocument/2006/relationships" id="267" r:id="R8528954ee9ad46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d37c5342e7489e" /><Relationship Type="http://schemas.openxmlformats.org/officeDocument/2006/relationships/slideMaster" Target="/ppt/slideMasters/slideMaster1.xml" Id="R3563b7c7620046a9" /><Relationship Type="http://schemas.openxmlformats.org/officeDocument/2006/relationships/notesMaster" Target="/ppt/notesMasters/notesMaster1.xml" Id="Rc78c8d66333e41bb" /><Relationship Type="http://schemas.openxmlformats.org/officeDocument/2006/relationships/presProps" Target="/ppt/presProps.xml" Id="R374e94fc907c4fb4" /><Relationship Type="http://schemas.openxmlformats.org/officeDocument/2006/relationships/tableStyles" Target="/ppt/tableStyles.xml" Id="R9f7d7648f7084fb5" /><Relationship Type="http://schemas.openxmlformats.org/officeDocument/2006/relationships/slide" Target="/ppt/slides/slide1.xml" Id="R9fb7676cd19b491e" /><Relationship Type="http://schemas.openxmlformats.org/officeDocument/2006/relationships/slide" Target="/ppt/slides/slide2.xml" Id="Rb674dfba38824a45" /><Relationship Type="http://schemas.openxmlformats.org/officeDocument/2006/relationships/slide" Target="/ppt/slides/slide3.xml" Id="R138a8fff4d8046b8" /><Relationship Type="http://schemas.openxmlformats.org/officeDocument/2006/relationships/slide" Target="/ppt/slides/slide4.xml" Id="Rd37547115de64ff9" /><Relationship Type="http://schemas.openxmlformats.org/officeDocument/2006/relationships/slide" Target="/ppt/slides/slide5.xml" Id="R797fec7445324cea" /><Relationship Type="http://schemas.openxmlformats.org/officeDocument/2006/relationships/slide" Target="/ppt/slides/slide6.xml" Id="Rfe7447142f064bf5" /><Relationship Type="http://schemas.openxmlformats.org/officeDocument/2006/relationships/slide" Target="/ppt/slides/slide7.xml" Id="Rfbccddc59fa4482a" /><Relationship Type="http://schemas.openxmlformats.org/officeDocument/2006/relationships/slide" Target="/ppt/slides/slide8.xml" Id="R5fc7614c98254080" /><Relationship Type="http://schemas.openxmlformats.org/officeDocument/2006/relationships/slide" Target="/ppt/slides/slide9.xml" Id="Rf94b9883b6e045ad" /><Relationship Type="http://schemas.openxmlformats.org/officeDocument/2006/relationships/slide" Target="/ppt/slides/slide10.xml" Id="Rc46fb48c015c44ed" /><Relationship Type="http://schemas.openxmlformats.org/officeDocument/2006/relationships/slide" Target="/ppt/slides/slide11.xml" Id="R9f320f3477554c5a" /><Relationship Type="http://schemas.openxmlformats.org/officeDocument/2006/relationships/slide" Target="/ppt/slides/slide12.xml" Id="R8528954ee9ad46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02108270e746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a2292579c8413b" /><Relationship Type="http://schemas.openxmlformats.org/officeDocument/2006/relationships/notesMaster" Target="/ppt/notesMasters/notesMaster1.xml" Id="R8b890c84d76240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18780326c74143" /><Relationship Type="http://schemas.openxmlformats.org/officeDocument/2006/relationships/notesMaster" Target="/ppt/notesMasters/notesMaster1.xml" Id="R18a4f4595e804b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b573cc1cde4e6e" /><Relationship Type="http://schemas.openxmlformats.org/officeDocument/2006/relationships/notesMaster" Target="/ppt/notesMasters/notesMaster1.xml" Id="Rf037cdd83da540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93e8a5e9c4402d" /><Relationship Type="http://schemas.openxmlformats.org/officeDocument/2006/relationships/notesMaster" Target="/ppt/notesMasters/notesMaster1.xml" Id="R60dbece7270340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93939e7f1f4137" /><Relationship Type="http://schemas.openxmlformats.org/officeDocument/2006/relationships/notesMaster" Target="/ppt/notesMasters/notesMaster1.xml" Id="Rcb9802fcaf124e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34e5197b7e430e" /><Relationship Type="http://schemas.openxmlformats.org/officeDocument/2006/relationships/notesMaster" Target="/ppt/notesMasters/notesMaster1.xml" Id="Ra631d641139b49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2fcf25729546cb" /><Relationship Type="http://schemas.openxmlformats.org/officeDocument/2006/relationships/notesMaster" Target="/ppt/notesMasters/notesMaster1.xml" Id="Rc3f4ddffa10a41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dc4e596ed94ba2" /><Relationship Type="http://schemas.openxmlformats.org/officeDocument/2006/relationships/notesMaster" Target="/ppt/notesMasters/notesMaster1.xml" Id="R3e95f14e83df45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626cbfbb6e40c6" /><Relationship Type="http://schemas.openxmlformats.org/officeDocument/2006/relationships/notesMaster" Target="/ppt/notesMasters/notesMaster1.xml" Id="R1daa3b6bff404a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aab340250a4bba" /><Relationship Type="http://schemas.openxmlformats.org/officeDocument/2006/relationships/notesMaster" Target="/ppt/notesMasters/notesMaster1.xml" Id="Rc0596237995c422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964e3143204212" /><Relationship Type="http://schemas.openxmlformats.org/officeDocument/2006/relationships/notesMaster" Target="/ppt/notesMasters/notesMaster1.xml" Id="R8a04afdfec7140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a8bba8915b4f97" /><Relationship Type="http://schemas.openxmlformats.org/officeDocument/2006/relationships/notesMaster" Target="/ppt/notesMasters/notesMaster1.xml" Id="R52b75458d48b49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36a48462d446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ea2bcb689b4dfe" /><Relationship Type="http://schemas.openxmlformats.org/officeDocument/2006/relationships/slideLayout" Target="/ppt/slideLayouts/slideLayout1.xml" Id="R4828b63d2f6645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28b63d2f6645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260391e4045fb" /><Relationship Type="http://schemas.openxmlformats.org/officeDocument/2006/relationships/notesSlide" Target="/ppt/notesSlides/notesSlide1.xml" Id="Ra101634eb9c947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cea13884444d2" /><Relationship Type="http://schemas.openxmlformats.org/officeDocument/2006/relationships/notesSlide" Target="/ppt/notesSlides/notesSlide2.xml" Id="Rdb5c6f1867ef4c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0a3ba495d47b4" /><Relationship Type="http://schemas.openxmlformats.org/officeDocument/2006/relationships/notesSlide" Target="/ppt/notesSlides/notesSlide3.xml" Id="R482b4d3b30c249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d41c644bd4341" /><Relationship Type="http://schemas.openxmlformats.org/officeDocument/2006/relationships/notesSlide" Target="/ppt/notesSlides/notesSlide4.xml" Id="R18d2cc1a83f240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70f373945464d" /><Relationship Type="http://schemas.openxmlformats.org/officeDocument/2006/relationships/notesSlide" Target="/ppt/notesSlides/notesSlide5.xml" Id="Rf489a5b307bd42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6f46d085e4315" /><Relationship Type="http://schemas.openxmlformats.org/officeDocument/2006/relationships/notesSlide" Target="/ppt/notesSlides/notesSlide6.xml" Id="R79df0c91896741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02e64bc7d45e9" /><Relationship Type="http://schemas.openxmlformats.org/officeDocument/2006/relationships/notesSlide" Target="/ppt/notesSlides/notesSlide7.xml" Id="Rd55125571dd54e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f59e83d34477f" /><Relationship Type="http://schemas.openxmlformats.org/officeDocument/2006/relationships/notesSlide" Target="/ppt/notesSlides/notesSlide8.xml" Id="Rd6475308040048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f1ec0da054bfb" /><Relationship Type="http://schemas.openxmlformats.org/officeDocument/2006/relationships/image" Target="/ppt/media/image.jpeg" Id="Rbf97df3161284e8c" /><Relationship Type="http://schemas.openxmlformats.org/officeDocument/2006/relationships/image" Target="/ppt/media/image2.jpeg" Id="R88ed0ca364ac47cb" /><Relationship Type="http://schemas.openxmlformats.org/officeDocument/2006/relationships/image" Target="/ppt/media/image3.jpeg" Id="Rb4a265ccd63845a9" /><Relationship Type="http://schemas.openxmlformats.org/officeDocument/2006/relationships/notesSlide" Target="/ppt/notesSlides/notesSlide9.xml" Id="R9e28e272c0dc41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09d54539c49a5" /><Relationship Type="http://schemas.openxmlformats.org/officeDocument/2006/relationships/notesSlide" Target="/ppt/notesSlides/notesSlide10.xml" Id="Rf1f7c4921d0648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e56b4da234cd2" /><Relationship Type="http://schemas.openxmlformats.org/officeDocument/2006/relationships/notesSlide" Target="/ppt/notesSlides/notesSlide11.xml" Id="Ra2f820c9ce0744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483b797894aff" /><Relationship Type="http://schemas.openxmlformats.org/officeDocument/2006/relationships/notesSlide" Target="/ppt/notesSlides/notesSlide12.xml" Id="R38ba976ba0ca4f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439CCA-CE47-4D9B-A633-1DC0157D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4A9E9-C788-46F7-B737-244FA6C5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157FF"/>
                </a:solidFill>
              </a:defRPr>
            </a:pPr>
            <a:r>
              <a:rPr sz="975" b="1" i="0">
                <a:solidFill>
                  <a:srgbClr val="3157FF"/>
                </a:solidFill>
              </a:rPr>
              <a:t>PORTFOLIO  / 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2F81EF-2300-4FD1-86B9-21ECD960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676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350" b="1" i="0">
                <a:solidFill>
                  <a:srgbClr val="121722"/>
                </a:solidFill>
              </a:defRPr>
            </a:pPr>
            <a:r>
              <a:rPr sz="4350" b="1" i="0">
                <a:solidFill>
                  <a:srgbClr val="121722"/>
                </a:solidFill>
              </a:rPr>
              <a:t>Heetae Lee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806A0-E52F-4623-9763-67158457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676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3157FF"/>
                </a:solidFill>
              </a:defRPr>
            </a:pPr>
            <a:r>
              <a:rPr sz="2550" b="1" i="0">
                <a:solidFill>
                  <a:srgbClr val="3157FF"/>
                </a:solidFill>
              </a:rPr>
              <a:t>Backend Engineer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68021-1397-427A-8012-7D6C2470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F3BFC-4BD2-4BFE-B68F-128EEEBE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A3B2"/>
                </a:solidFill>
              </a:defRPr>
            </a:pPr>
            <a:r>
              <a:rPr sz="975" b="1" i="0">
                <a:solidFill>
                  <a:srgbClr val="9AA3B2"/>
                </a:solidFill>
              </a:rPr>
              <a:t>5+ YEARS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A9FF6-E3A6-4C89-8028-97A6C0DB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863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A3B2"/>
                </a:solidFill>
              </a:defRPr>
            </a:pPr>
            <a:r>
              <a:rPr sz="975" b="1" i="0">
                <a:solidFill>
                  <a:srgbClr val="9AA3B2"/>
                </a:solidFill>
              </a:rPr>
              <a:t>JAVA / SPRING BOOT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70024B-F18C-4301-9AB2-0D875AA6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6863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9AA3B2"/>
                </a:solidFill>
              </a:defRPr>
            </a:pPr>
            <a:r>
              <a:rPr sz="975" b="1" i="0">
                <a:solidFill>
                  <a:srgbClr val="9AA3B2"/>
                </a:solidFill>
              </a:rPr>
              <a:t>복지·여행 커머스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1DD657-0727-4825-94EA-6C2E5CD0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21722"/>
                </a:solidFill>
              </a:defRPr>
            </a:pPr>
            <a:r>
              <a:rPr sz="1050" b="0" i="0">
                <a:solidFill>
                  <a:srgbClr val="121722"/>
                </a:solidFill>
              </a:rPr>
              <a:t>https://heetae-l.github.io/ko/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88CAC-F872-42E5-9BA5-DA60A112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4152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0CF748-C3B7-4EEF-9C4F-CA8D3068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66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8993A7"/>
                </a:solidFill>
              </a:defRPr>
            </a:pPr>
            <a:r>
              <a:rPr sz="900" b="1" i="0">
                <a:solidFill>
                  <a:srgbClr val="8993A7"/>
                </a:solidFill>
              </a:rPr>
              <a:t>CONTENTS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9749C3-E161-4B60-8E32-B9583C5D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3525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3157FF"/>
                </a:solidFill>
              </a:defRPr>
            </a:pPr>
            <a:r>
              <a:rPr sz="900" b="1" i="0">
                <a:solidFill>
                  <a:srgbClr val="3157FF"/>
                </a:solidFill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E5645E-DA47-402E-958A-F11155B9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314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경력과 기술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60D958-56F6-44AE-AFF6-D009E224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76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AEB6C5"/>
                </a:solidFill>
              </a:defRPr>
            </a:pPr>
            <a:r>
              <a:rPr sz="1125" b="0" i="0">
                <a:solidFill>
                  <a:srgbClr val="AEB6C5"/>
                </a:solidFill>
              </a:rPr>
              <a:t>개발 경험과 기술 적용 범위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EC2FEF-0F6D-4B6C-A311-CA55EF4D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336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9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B3DEC4-AC8C-4B23-87F2-91B4DA4D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574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3157FF"/>
                </a:solidFill>
              </a:defRPr>
            </a:pPr>
            <a:r>
              <a:rPr sz="900" b="1" i="0">
                <a:solidFill>
                  <a:srgbClr val="3157FF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37E968-9CBE-449F-A9FF-B33F85CE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19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프로젝트와 문제 해결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ADE32F-8713-4761-A98B-07569A68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81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AEB6C5"/>
                </a:solidFill>
              </a:defRPr>
            </a:pPr>
            <a:r>
              <a:rPr sz="1125" b="0" i="0">
                <a:solidFill>
                  <a:srgbClr val="AEB6C5"/>
                </a:solidFill>
              </a:rPr>
              <a:t>주요 구현 사례와 기술적 판단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747012-76A1-4D29-9651-AD483C05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9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E0630C-B140-468E-83E6-44B5787D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623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3157FF"/>
                </a:solidFill>
              </a:defRPr>
            </a:pPr>
            <a:r>
              <a:rPr sz="900" b="1" i="0">
                <a:solidFill>
                  <a:srgbClr val="3157FF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ADE38D-FA0C-4EAC-A84D-98A7DAD2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24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AI 활용 업무 환경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10EF26-EE50-47D2-98F2-8FCE33BD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86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AEB6C5"/>
                </a:solidFill>
              </a:defRPr>
            </a:pPr>
            <a:r>
              <a:rPr sz="1125" b="0" i="0">
                <a:solidFill>
                  <a:srgbClr val="AEB6C5"/>
                </a:solidFill>
              </a:rPr>
              <a:t>공통 지식 구성과 개발자 검증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C6B851-02A5-464F-870A-13CEBC6A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434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9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9A639E-3786-4E2B-97B0-7586B776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672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3157FF"/>
                </a:solidFill>
              </a:defRPr>
            </a:pPr>
            <a:r>
              <a:rPr sz="900" b="1" i="0">
                <a:solidFill>
                  <a:srgbClr val="3157FF"/>
                </a:solidFill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CF9F56-6AD3-41E5-9134-6FA0CF88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29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핵심 기여 요약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71AD41-3C98-4701-94DE-302D4BFC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991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AEB6C5"/>
                </a:solidFill>
              </a:defRPr>
            </a:pPr>
            <a:r>
              <a:rPr sz="1125" b="0" i="0">
                <a:solidFill>
                  <a:srgbClr val="AEB6C5"/>
                </a:solidFill>
              </a:rPr>
              <a:t>프로젝트별 책임과 구현 결과</a:t>
            </a:r>
          </a:p>
        </p:txBody>
      </p:sp>
      <p:sp>
        <p:nvSpPr>
          <p:cNvPr id="29" name="intro-responsibility">
            <a:extLst xmlns:a="http://schemas.openxmlformats.org/drawingml/2006/main">
              <a:ext uri="{FF2B5EF4-FFF2-40B4-BE49-F238E27FC236}">
                <a16:creationId xmlns:a16="http://schemas.microsoft.com/office/drawing/2014/main" id="{B60A02D3-BDD6-4437-B0D7-152DBC85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704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97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F697A"/>
                </a:solidFill>
                <a:latin typeface="Calibri"/>
                <a:ea typeface="Calibri"/>
                <a:cs typeface="Calibri"/>
              </a:rPr>
              <a:t>Java/Spring 기반 서비스 개발과 제휴 API 연동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F697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F697A"/>
                </a:solidFill>
                <a:latin typeface="Calibri"/>
                <a:ea typeface="Calibri"/>
                <a:cs typeface="Calibri"/>
              </a:rPr>
              <a:t>요구사항 조율부터 기능 구현, 서비스 안정성 개선까지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E401FB-70ED-4C52-B8AD-B6153026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43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8C99AE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8C99AE"/>
                </a:solidFill>
                <a:latin typeface="Calibri"/>
                <a:ea typeface="Calibri"/>
                <a:cs typeface="Calibri"/>
              </a:rPr>
              <a:t>pp. 02-04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E51E4F-5A7D-466C-AA66-92048AC5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480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8C99AE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8C99AE"/>
                </a:solidFill>
                <a:latin typeface="Calibri"/>
                <a:ea typeface="Calibri"/>
                <a:cs typeface="Calibri"/>
              </a:rPr>
              <a:t>pp. 05-09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558DD0-7C6E-4382-835F-30CE2F44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529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8C99AE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8C99AE"/>
                </a:solidFill>
                <a:latin typeface="Calibri"/>
                <a:ea typeface="Calibri"/>
                <a:cs typeface="Calibri"/>
              </a:rPr>
              <a:t>p. 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6E8BC4-8BF2-4124-98AF-97E5AB9E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2578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8C99AE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8C99AE"/>
                </a:solidFill>
                <a:latin typeface="Calibri"/>
                <a:ea typeface="Calibri"/>
                <a:cs typeface="Calibri"/>
              </a:rPr>
              <a:t>p. 11</a:t>
            </a:r>
          </a:p>
        </p:txBody>
      </p:sp>
    </p:spTree>
    <p:extLst>
      <p:ext uri="{BB962C8B-B14F-4D97-AF65-F5344CB8AC3E}">
        <p14:creationId xmlns:p14="http://schemas.microsoft.com/office/powerpoint/2010/main" val="16957307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16D18E-402D-462A-A682-F1114C89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157FF"/>
                </a:solidFill>
              </a:defRPr>
            </a:pPr>
            <a:r>
              <a:rPr sz="975" b="1" i="0">
                <a:solidFill>
                  <a:srgbClr val="3157FF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2E5606-834F-44A4-B6E9-DCE0EBEE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D31A5-9C08-44C0-ABFE-5456958B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1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B6472"/>
                </a:solidFill>
              </a:defRPr>
            </a:pPr>
            <a:r>
              <a:rPr sz="975" b="1" i="0">
                <a:solidFill>
                  <a:srgbClr val="5B6472"/>
                </a:solidFill>
              </a:rPr>
              <a:t>PROFILE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570595-F5F6-45F3-AA8E-2F7A6D24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21722"/>
                </a:solidFill>
              </a:defRPr>
            </a:pPr>
            <a:r>
              <a:rPr sz="2700" b="1" i="0">
                <a:solidFill>
                  <a:srgbClr val="121722"/>
                </a:solidFill>
              </a:rPr>
              <a:t>주요 개발 경험과 담당 범위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FB8D0-5619-4720-8736-DA2F3783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B6472"/>
                </a:solidFill>
              </a:defRPr>
            </a:pPr>
            <a:r>
              <a:rPr sz="1425" b="0" i="0">
                <a:solidFill>
                  <a:srgbClr val="5B6472"/>
                </a:solidFill>
              </a:rPr>
              <a:t>제휴 연동 전담, 업무 규칙 구현, 신규 API 구축 경험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0831FC-BA2C-497D-83A3-0CB779E2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3157FF"/>
                </a:solidFill>
              </a:defRPr>
            </a:pPr>
            <a:r>
              <a:rPr sz="825" b="1" i="0">
                <a:solidFill>
                  <a:srgbClr val="3157FF"/>
                </a:solidFill>
              </a:rPr>
              <a:t>EXPERIENCE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2F75B6-A8DF-43B6-B527-A15C8605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21722"/>
                </a:solidFill>
              </a:defRPr>
            </a:pPr>
            <a:r>
              <a:rPr sz="1650" b="1" i="0">
                <a:solidFill>
                  <a:srgbClr val="121722"/>
                </a:solidFill>
              </a:rPr>
              <a:t>5+ Years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B251E-583D-46F6-9403-C1F2F91E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52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0F9F7A"/>
                </a:solidFill>
              </a:defRPr>
            </a:pPr>
            <a:r>
              <a:rPr sz="825" b="1" i="0">
                <a:solidFill>
                  <a:srgbClr val="0F9F7A"/>
                </a:solidFill>
              </a:rPr>
              <a:t>PRIMARY DOMAIN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0959B-06A0-445A-B6E9-9EC1E47C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193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21722"/>
                </a:solidFill>
              </a:defRPr>
            </a:pPr>
            <a:r>
              <a:rPr sz="1650" b="1" i="0">
                <a:solidFill>
                  <a:srgbClr val="121722"/>
                </a:solidFill>
              </a:rPr>
              <a:t>복지·여행 커머스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573661-0DBD-4F1A-B360-618E85B7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52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EE6A5F"/>
                </a:solidFill>
              </a:defRPr>
            </a:pPr>
            <a:r>
              <a:rPr sz="825" b="1" i="0">
                <a:solidFill>
                  <a:srgbClr val="EE6A5F"/>
                </a:solidFill>
              </a:rPr>
              <a:t>CURRENT ROLE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123251-6B90-4082-8ADB-C8CF07AC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193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21722"/>
                </a:solidFill>
              </a:defRPr>
            </a:pPr>
            <a:r>
              <a:rPr sz="1875" b="1" i="0">
                <a:solidFill>
                  <a:srgbClr val="121722"/>
                </a:solidFill>
              </a:rPr>
              <a:t>여행·레저 제휴 연동 전담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BDF6E0-645A-4DEB-9151-67B0AAC6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F9A177-7C44-4F0E-90E3-2D42FBFB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3441B8-DC7D-47ED-BE7C-C88CF997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21722"/>
                </a:solidFill>
              </a:defRPr>
            </a:pPr>
            <a:r>
              <a:rPr sz="1425" b="0" i="0">
                <a:solidFill>
                  <a:srgbClr val="121722"/>
                </a:solidFill>
              </a:rPr>
              <a:t>제휴사와 규격·접속 조건 조율부터</a:t>
            </a:r>
            <a:br>
              <a:rPr sz="1425" b="0" i="0">
                <a:solidFill>
                  <a:srgbClr val="121722"/>
                </a:solidFill>
              </a:rPr>
            </a:br>
            <a:r>
              <a:rPr sz="1425" b="0" i="0">
                <a:solidFill>
                  <a:srgbClr val="121722"/>
                </a:solidFill>
              </a:rPr>
              <a:t>API·배치 개발과 오픈 전 검증까지 담당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2E0892-4C69-4CAB-967C-C0D51BED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F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142212-2F8F-42E5-9476-521E0B2A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21722"/>
                </a:solidFill>
              </a:defRPr>
            </a:pPr>
            <a:r>
              <a:rPr sz="1425" b="0" i="0">
                <a:solidFill>
                  <a:srgbClr val="121722"/>
                </a:solidFill>
              </a:rPr>
              <a:t>주문·포인트·신청 정책을 데이터 처리와</a:t>
            </a:r>
            <a:br>
              <a:rPr sz="1425" b="0" i="0">
                <a:solidFill>
                  <a:srgbClr val="121722"/>
                </a:solidFill>
              </a:rPr>
            </a:br>
            <a:r>
              <a:rPr sz="1425" b="0" i="0">
                <a:solidFill>
                  <a:srgbClr val="121722"/>
                </a:solidFill>
              </a:rPr>
              <a:t>사용자·관리자 기능으로 구현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1D5F05-CD07-4B65-93DB-A7F3B646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261D02-15B3-4CE4-9279-7AE512CF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21722"/>
                </a:solidFill>
              </a:defRPr>
            </a:pPr>
            <a:r>
              <a:rPr sz="1425" b="0" i="0">
                <a:solidFill>
                  <a:srgbClr val="121722"/>
                </a:solidFill>
              </a:rPr>
              <a:t>CTO와 2인 TF에서 사내 첫 Python</a:t>
            </a:r>
            <a:br>
              <a:rPr sz="1425" b="0" i="0">
                <a:solidFill>
                  <a:srgbClr val="121722"/>
                </a:solidFill>
              </a:rPr>
            </a:br>
            <a:r>
              <a:rPr sz="1425" b="0" i="0">
                <a:solidFill>
                  <a:srgbClr val="121722"/>
                </a:solidFill>
              </a:rPr>
              <a:t>AI API 설계·구현과 배포 검증 주도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CCB3C9-98A7-436D-B91B-6BD7979C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49720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F40A20-43EB-4753-A588-66655724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719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8993A7"/>
                </a:solidFill>
              </a:defRPr>
            </a:pPr>
            <a:r>
              <a:rPr sz="825" b="1" i="0">
                <a:solidFill>
                  <a:srgbClr val="8993A7"/>
                </a:solidFill>
              </a:rPr>
              <a:t>TECHNICAL DECISIONS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47F4A5-4590-459B-BE56-92E4FA81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910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주문 트랜잭션</a:t>
            </a:r>
            <a:br>
              <a:rPr sz="1425" b="1" i="0">
                <a:solidFill>
                  <a:srgbClr val="FFFFFF"/>
                </a:solidFill>
              </a:rPr>
            </a:br>
            <a:r>
              <a:rPr sz="1425" b="1" i="0">
                <a:solidFill>
                  <a:srgbClr val="FFFFFF"/>
                </a:solidFill>
              </a:rPr>
              <a:t>경계 분리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0FEB20-9BD1-4148-9480-B628DA63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910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제휴 응답</a:t>
            </a:r>
            <a:br>
              <a:rPr sz="1425" b="1" i="0">
                <a:solidFill>
                  <a:srgbClr val="FFFFFF"/>
                </a:solidFill>
              </a:rPr>
            </a:br>
            <a:r>
              <a:rPr sz="1425" b="1" i="0">
                <a:solidFill>
                  <a:srgbClr val="FFFFFF"/>
                </a:solidFill>
              </a:rPr>
              <a:t>예외 격리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536961-7745-435D-94F1-C636319C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79107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재원별 포인트</a:t>
            </a:r>
            <a:br>
              <a:rPr sz="1425" b="1" i="0">
                <a:solidFill>
                  <a:srgbClr val="FFFFFF"/>
                </a:solidFill>
              </a:rPr>
            </a:br>
            <a:r>
              <a:rPr sz="1425" b="1" i="0">
                <a:solidFill>
                  <a:srgbClr val="FFFFFF"/>
                </a:solidFill>
              </a:rPr>
              <a:t>통계 기준 반영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F2CD0F-B3CA-4357-B6C8-E3279CC3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910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AI 응답</a:t>
            </a:r>
            <a:br>
              <a:rPr sz="1425" b="1" i="0">
                <a:solidFill>
                  <a:srgbClr val="FFFFFF"/>
                </a:solidFill>
              </a:rPr>
            </a:br>
            <a:r>
              <a:rPr sz="1425" b="1" i="0">
                <a:solidFill>
                  <a:srgbClr val="FFFFFF"/>
                </a:solidFill>
              </a:rPr>
              <a:t>JSON 검증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E9BED4-D1B9-4B3F-A8A2-FF7C6A1D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B6472"/>
                </a:solidFill>
              </a:defRPr>
            </a:pPr>
            <a:r>
              <a:rPr sz="1125" b="0" i="0">
                <a:solidFill>
                  <a:srgbClr val="5B6472"/>
                </a:solidFill>
              </a:rPr>
              <a:t>소프트웨어학 학사  ·  정보처리기사  ·  SQLD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16B399-D0A2-466A-92AC-73F48DAE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8F432A-EF51-414E-BBBA-EB934782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9AA3B2"/>
                </a:solidFill>
              </a:defRPr>
            </a:pPr>
            <a:r>
              <a:rPr sz="675" b="1" i="0">
                <a:solidFill>
                  <a:srgbClr val="9AA3B2"/>
                </a:solidFill>
              </a:rPr>
              <a:t>HEETAE LEE  /  BACKEND ENGINEER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5C0C23-0AFD-46AA-B9DE-6DD62D94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9AA3B2"/>
                </a:solidFill>
              </a:defRPr>
            </a:pPr>
            <a:r>
              <a:rPr sz="750" b="1" i="0">
                <a:solidFill>
                  <a:srgbClr val="9AA3B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532825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C8571E-27E0-4ED0-A22B-E9C300BC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157FF"/>
                </a:solidFill>
              </a:defRPr>
            </a:pPr>
            <a:r>
              <a:rPr sz="975" b="1" i="0">
                <a:solidFill>
                  <a:srgbClr val="3157FF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5896F-152F-43FA-B08A-A8094C42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B43A6-B038-4EC9-AEB8-1C9E055E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1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B6472"/>
                </a:solidFill>
              </a:defRPr>
            </a:pPr>
            <a:r>
              <a:rPr sz="975" b="1" i="0">
                <a:solidFill>
                  <a:srgbClr val="5B6472"/>
                </a:solidFill>
              </a:rPr>
              <a:t>CAREER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F24B9-56D0-485F-B2C7-CEC3BABA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21722"/>
                </a:solidFill>
              </a:defRPr>
            </a:pPr>
            <a:r>
              <a:rPr sz="2700" b="1" i="0">
                <a:solidFill>
                  <a:srgbClr val="121722"/>
                </a:solidFill>
              </a:rPr>
              <a:t>백엔드 개발 경력과 주요 프로젝트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438453-BED1-44E0-BC65-BBC15CE8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두 회사의 개발 경력과 SK M&amp;Service 내 주요 서비스·프로젝트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22A2B8-E834-4B1B-8288-9C5D50C7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9AA3B2"/>
                </a:solidFill>
              </a:defRPr>
            </a:pPr>
            <a:r>
              <a:rPr sz="825" b="1" i="0">
                <a:solidFill>
                  <a:srgbClr val="9AA3B2"/>
                </a:solidFill>
              </a:rPr>
              <a:t>COMPANY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016F2-D759-46C2-ACEB-8F967C41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955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9AA3B2"/>
                </a:solidFill>
              </a:defRPr>
            </a:pPr>
            <a:r>
              <a:rPr sz="825" b="1" i="0">
                <a:solidFill>
                  <a:srgbClr val="9AA3B2"/>
                </a:solidFill>
              </a:rPr>
              <a:t>SK M&amp;Service / 주요 업무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223DD-19CC-4F96-9558-A8245508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3067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F4D4A-B078-48B0-8DD1-2B857BF7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00300"/>
            <a:ext cx="683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FA860B-2DB0-4239-A1ED-AAEB9EDA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95500"/>
            <a:ext cx="1905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D69C5-BDF2-4915-9B72-3D37032D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A3B2"/>
                </a:solidFill>
              </a:defRPr>
            </a:pPr>
            <a:r>
              <a:rPr sz="900" b="1" i="0">
                <a:solidFill>
                  <a:srgbClr val="9AA3B2"/>
                </a:solidFill>
              </a:rPr>
              <a:t>2020.11 - 2021.06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133C1B-3DAA-4240-B671-955D7B85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21722"/>
                </a:solidFill>
              </a:defRPr>
            </a:pPr>
            <a:r>
              <a:rPr sz="1800" b="1" i="0">
                <a:solidFill>
                  <a:srgbClr val="121722"/>
                </a:solidFill>
              </a:rPr>
              <a:t>한성기업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FC04C3-2497-4D58-BF0B-D601B6E6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3157FF"/>
                </a:solidFill>
              </a:defRPr>
            </a:pPr>
            <a:r>
              <a:rPr sz="1125" b="1" i="0">
                <a:solidFill>
                  <a:srgbClr val="3157FF"/>
                </a:solidFill>
              </a:rPr>
              <a:t>Software Engineer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168D8C-2884-45E0-B814-BD713AE6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B6472"/>
                </a:solidFill>
              </a:defRPr>
            </a:pPr>
            <a:r>
              <a:rPr sz="1200" b="0" i="0">
                <a:solidFill>
                  <a:srgbClr val="5B6472"/>
                </a:solidFill>
              </a:rPr>
              <a:t>물류·주문 관련 사내 업무 웹 시스템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863454-39BC-4AAB-AC8C-97DB4B83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9BB5C-494B-4AFF-B28A-2040977D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3157FF"/>
                </a:solidFill>
              </a:defRPr>
            </a:pPr>
            <a:r>
              <a:rPr sz="900" b="1" i="0">
                <a:solidFill>
                  <a:srgbClr val="3157FF"/>
                </a:solidFill>
              </a:rPr>
              <a:t>2021.12 - Present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131EF5-8405-4D1C-921D-4FB05909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21722"/>
                </a:solidFill>
              </a:defRPr>
            </a:pPr>
            <a:r>
              <a:rPr sz="1800" b="1" i="0">
                <a:solidFill>
                  <a:srgbClr val="121722"/>
                </a:solidFill>
              </a:rPr>
              <a:t>SK M&amp;Service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17D844-7847-46AD-9021-B065E733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3157FF"/>
                </a:solidFill>
              </a:defRPr>
            </a:pPr>
            <a:r>
              <a:rPr sz="1125" b="1" i="0">
                <a:solidFill>
                  <a:srgbClr val="3157FF"/>
                </a:solidFill>
              </a:rPr>
              <a:t>Software Engineer · 복지·여행 커머스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530869-CB67-43F6-BAEC-724CCDBC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8CCC7E-DF97-4430-B800-BEAA1F78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1054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3157FF"/>
                </a:solidFill>
              </a:defRPr>
            </a:pPr>
            <a:r>
              <a:rPr sz="825" b="1" i="0">
                <a:solidFill>
                  <a:srgbClr val="3157FF"/>
                </a:solidFill>
              </a:rPr>
              <a:t>2022.02 - 2024.03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130AAE-4F03-4DD6-994E-A74E9361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768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21722"/>
                </a:solidFill>
              </a:defRPr>
            </a:pPr>
            <a:r>
              <a:rPr sz="1425" b="1" i="0">
                <a:solidFill>
                  <a:srgbClr val="121722"/>
                </a:solidFill>
              </a:rPr>
              <a:t>Benepia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DBB23F-89F8-4CA6-91AA-24B2D67C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0958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B6472"/>
                </a:solidFill>
              </a:defRPr>
            </a:pPr>
            <a:r>
              <a:rPr sz="1125" b="0" i="0">
                <a:solidFill>
                  <a:srgbClr val="5B6472"/>
                </a:solidFill>
              </a:rPr>
              <a:t>고객사별 복지 커머스 기능·보안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C20E4C-AD43-4787-BF3C-99B21D1D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38500"/>
            <a:ext cx="661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4195EA-CB35-44C5-9347-002987C1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862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A9A801-DF5A-4DEF-9DF5-C2EAE900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86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EE6A5F"/>
                </a:solidFill>
              </a:defRPr>
            </a:pPr>
            <a:r>
              <a:rPr sz="825" b="1" i="0">
                <a:solidFill>
                  <a:srgbClr val="EE6A5F"/>
                </a:solidFill>
              </a:rPr>
              <a:t>2023 · TF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15070E-7A80-4AB1-B009-CACA7252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576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21722"/>
                </a:solidFill>
              </a:defRPr>
            </a:pPr>
            <a:r>
              <a:rPr sz="1425" b="1" i="0">
                <a:solidFill>
                  <a:srgbClr val="121722"/>
                </a:solidFill>
              </a:rPr>
              <a:t>여행 AI Q&amp;A API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CA2EBB-1B49-4FB2-A719-5F8BA00E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767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B6472"/>
                </a:solidFill>
              </a:defRPr>
            </a:pPr>
            <a:r>
              <a:rPr sz="1125" b="0" i="0">
                <a:solidFill>
                  <a:srgbClr val="5B6472"/>
                </a:solidFill>
              </a:rPr>
              <a:t>Python/Flask API·운영 배포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F1AB8B-ED42-4D19-96C2-F3F775F1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57650"/>
            <a:ext cx="661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4D0C66-5CDD-4D81-85A9-EC24EB28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671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1818BA-896B-4EAD-A090-8BCEAB0F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67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0F9F7A"/>
                </a:solidFill>
              </a:defRPr>
            </a:pPr>
            <a:r>
              <a:rPr sz="825" b="1" i="0">
                <a:solidFill>
                  <a:srgbClr val="0F9F7A"/>
                </a:solidFill>
              </a:rPr>
              <a:t>2024.04 - Present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BAAF9A-CF80-4F97-933A-5591C5CE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385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21722"/>
                </a:solidFill>
              </a:defRPr>
            </a:pPr>
            <a:r>
              <a:rPr sz="1425" b="1" i="0">
                <a:solidFill>
                  <a:srgbClr val="121722"/>
                </a:solidFill>
              </a:rPr>
              <a:t>한국관광공사 휴가샵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D3FCCB-57A1-436B-BF6F-2A4FD5CA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575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B6472"/>
                </a:solidFill>
              </a:defRPr>
            </a:pPr>
            <a:r>
              <a:rPr sz="1125" b="0" i="0">
                <a:solidFill>
                  <a:srgbClr val="5B6472"/>
                </a:solidFill>
              </a:rPr>
              <a:t>사용자·운영·포인트·통계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E006E7-C9B7-455E-860D-28E94B67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876800"/>
            <a:ext cx="661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A7DC2A-2A29-4839-8380-1AE59C16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479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137DE4-B544-40D0-8277-098AEFD5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47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3157FF"/>
                </a:solidFill>
              </a:defRPr>
            </a:pPr>
            <a:r>
              <a:rPr sz="825" b="1" i="0">
                <a:solidFill>
                  <a:srgbClr val="3157FF"/>
                </a:solidFill>
              </a:rPr>
              <a:t>2025 - Present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92FAB1-C060-498D-9F8E-E9BA0B73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19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21722"/>
                </a:solidFill>
              </a:defRPr>
            </a:pPr>
            <a:r>
              <a:rPr sz="1425" b="1" i="0">
                <a:solidFill>
                  <a:srgbClr val="121722"/>
                </a:solidFill>
              </a:rPr>
              <a:t>여행·레저 제휴 연동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C38FDC-321C-48DF-A22F-500A6391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09850"/>
            <a:ext cx="2171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B6472"/>
                </a:solidFill>
              </a:defRPr>
            </a:pPr>
            <a:r>
              <a:rPr sz="1125" b="0" i="0">
                <a:solidFill>
                  <a:srgbClr val="5B6472"/>
                </a:solidFill>
              </a:rPr>
              <a:t>주문·상품·검색 연동</a:t>
            </a:r>
            <a:br>
              <a:rPr sz="1125" b="0" i="0">
                <a:solidFill>
                  <a:srgbClr val="5B6472"/>
                </a:solidFill>
              </a:rPr>
            </a:br>
            <a:r>
              <a:rPr sz="1125" b="0" i="0">
                <a:solidFill>
                  <a:srgbClr val="5B6472"/>
                </a:solidFill>
              </a:rPr>
              <a:t>2026년부터 전담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7CCC94-8EBF-44A8-A790-EC8A4F7F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C4B509-3330-495F-97B8-78DDE2B1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9AA3B2"/>
                </a:solidFill>
              </a:defRPr>
            </a:pPr>
            <a:r>
              <a:rPr sz="675" b="1" i="0">
                <a:solidFill>
                  <a:srgbClr val="9AA3B2"/>
                </a:solidFill>
              </a:rPr>
              <a:t>HEETAE LEE  /  BACKEND ENGINEER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D470BD-6DBA-408A-A4E4-6A677B5D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9AA3B2"/>
                </a:solidFill>
              </a:defRPr>
            </a:pPr>
            <a:r>
              <a:rPr sz="750" b="1" i="0">
                <a:solidFill>
                  <a:srgbClr val="9AA3B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144389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C3F351-A4BD-42A4-848A-39EE7901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157FF"/>
                </a:solidFill>
              </a:defRPr>
            </a:pPr>
            <a:r>
              <a:rPr sz="975" b="1" i="0">
                <a:solidFill>
                  <a:srgbClr val="3157FF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2CFB5-99EE-4271-A5B3-CC32131C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E9625-0B7D-4931-B43A-56F0601C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1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B6472"/>
                </a:solidFill>
              </a:defRPr>
            </a:pPr>
            <a:r>
              <a:rPr sz="975" b="1" i="0">
                <a:solidFill>
                  <a:srgbClr val="5B6472"/>
                </a:solidFill>
              </a:rPr>
              <a:t>TECHNICAL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5DB2C-0115-4F1F-9D28-3E6CF165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21722"/>
                </a:solidFill>
              </a:defRPr>
            </a:pPr>
            <a:r>
              <a:rPr sz="2700" b="1" i="0">
                <a:solidFill>
                  <a:srgbClr val="121722"/>
                </a:solidFill>
              </a:rPr>
              <a:t>주요 기술과 실제 적용 범위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52B64-DF24-413A-9DC5-2ACEBD88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Java/Spring Boot를 중심으로 서비스 기능과 외부 연동 개발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63583-E473-4C52-9EFA-81C58D28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157FF"/>
                </a:solidFill>
              </a:defRPr>
            </a:pPr>
            <a:r>
              <a:rPr sz="1125" b="1" i="0">
                <a:solidFill>
                  <a:srgbClr val="3157FF"/>
                </a:solidFill>
              </a:rPr>
              <a:t>BACKEND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9EB0A4-851C-4047-9056-0B9EF69A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19300"/>
            <a:ext cx="868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1722"/>
                </a:solidFill>
              </a:defRPr>
            </a:pPr>
            <a:r>
              <a:rPr sz="1500" b="1" i="0">
                <a:solidFill>
                  <a:srgbClr val="121722"/>
                </a:solidFill>
              </a:rPr>
              <a:t>Java · Spring Boot · REST API · Batch · Transaction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2ED472-3A8A-401C-B1F1-5CFBC7AE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03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D0C36D-D7FC-4A56-B023-0094731D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14625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F9F7A"/>
                </a:solidFill>
              </a:defRPr>
            </a:pPr>
            <a:r>
              <a:rPr sz="1125" b="1" i="0">
                <a:solidFill>
                  <a:srgbClr val="0F9F7A"/>
                </a:solidFill>
              </a:rPr>
              <a:t>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282B5D-64C5-4401-8A38-DD538273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76525"/>
            <a:ext cx="868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1722"/>
                </a:solidFill>
              </a:defRPr>
            </a:pPr>
            <a:r>
              <a:rPr sz="1500" b="1" i="0">
                <a:solidFill>
                  <a:srgbClr val="121722"/>
                </a:solidFill>
              </a:rPr>
              <a:t>Oracle · SQL · MyBatis · PL/SQL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C87AD7-9A6C-4D0D-94A6-6A49D846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6FD20A-F3FE-46CE-A84E-A4E5EAA6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EE6A5F"/>
                </a:solidFill>
              </a:defRPr>
            </a:pPr>
            <a:r>
              <a:rPr sz="1125" b="1" i="0">
                <a:solidFill>
                  <a:srgbClr val="EE6A5F"/>
                </a:solidFill>
              </a:rPr>
              <a:t>SESSION / CACHE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C31768-C2A1-4653-800F-CC8F4602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868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1722"/>
                </a:solidFill>
              </a:defRPr>
            </a:pPr>
            <a:r>
              <a:rPr sz="1500" b="1" i="0">
                <a:solidFill>
                  <a:srgbClr val="121722"/>
                </a:solidFill>
              </a:rPr>
              <a:t>Redis · Spring Session · Spring Cache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2DB9B3-5E89-47C2-A0C6-95C4FE05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147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47380F-6114-45CE-9722-DF89AC98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29075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157FF"/>
                </a:solidFill>
              </a:defRPr>
            </a:pPr>
            <a:r>
              <a:rPr sz="1125" b="1" i="0">
                <a:solidFill>
                  <a:srgbClr val="3157FF"/>
                </a:solidFill>
              </a:rPr>
              <a:t>ASYNC / API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0DB0B5-647B-4987-BF60-23B31895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90975"/>
            <a:ext cx="868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1722"/>
                </a:solidFill>
              </a:defRPr>
            </a:pPr>
            <a:r>
              <a:rPr sz="1500" b="1" i="0">
                <a:solidFill>
                  <a:srgbClr val="121722"/>
                </a:solidFill>
              </a:rPr>
              <a:t>CompletableFuture · ThreadPoolTaskExecutor · WebFlux / WebClient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765136-D448-4410-BBC7-4E5A1FF1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D0D5DA-F67E-4B49-9B8B-DD74F705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F9F7A"/>
                </a:solidFill>
              </a:defRPr>
            </a:pPr>
            <a:r>
              <a:rPr sz="1125" b="1" i="0">
                <a:solidFill>
                  <a:srgbClr val="0F9F7A"/>
                </a:solidFill>
              </a:rPr>
              <a:t>DELIVERY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5F8E48-E93D-4B4F-B890-FFC1C833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48200"/>
            <a:ext cx="868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1722"/>
                </a:solidFill>
              </a:defRPr>
            </a:pPr>
            <a:r>
              <a:rPr sz="1500" b="1" i="0">
                <a:solidFill>
                  <a:srgbClr val="121722"/>
                </a:solidFill>
              </a:rPr>
              <a:t>Docker · GitLab CI · Jenkins · Nomad · Linux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0B9905-F784-45EC-B4CA-B6B720FE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292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8E5A03-69DB-450D-B461-FD8683B3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43525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EE6A5F"/>
                </a:solidFill>
              </a:defRPr>
            </a:pPr>
            <a:r>
              <a:rPr sz="1125" b="1" i="0">
                <a:solidFill>
                  <a:srgbClr val="EE6A5F"/>
                </a:solidFill>
              </a:rPr>
              <a:t>AI / PYTHON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97558B-E702-4116-B6D3-1192B443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05425"/>
            <a:ext cx="868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1722"/>
                </a:solidFill>
              </a:defRPr>
            </a:pPr>
            <a:r>
              <a:rPr sz="1500" b="1" i="0">
                <a:solidFill>
                  <a:srgbClr val="121722"/>
                </a:solidFill>
              </a:rPr>
              <a:t>Python · Flask · Azure OpenAI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FA7BCB-FAF8-4EDE-AF71-A646B601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4AEF4D-89BC-4715-8346-6ED0148D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9AA3B2"/>
                </a:solidFill>
              </a:defRPr>
            </a:pPr>
            <a:r>
              <a:rPr sz="675" b="1" i="0">
                <a:solidFill>
                  <a:srgbClr val="9AA3B2"/>
                </a:solidFill>
              </a:rPr>
              <a:t>HEETAE LEE  /  BACKEND ENGINEER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ECD302-D126-49A0-B96D-59577E79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9AA3B2"/>
                </a:solidFill>
              </a:defRPr>
            </a:pPr>
            <a:r>
              <a:rPr sz="750" b="1" i="0">
                <a:solidFill>
                  <a:srgbClr val="9AA3B2"/>
                </a:solidFill>
              </a:rPr>
              <a:t>04</a:t>
            </a:r>
          </a:p>
        </p:txBody>
      </p:sp>
      <p:sp>
        <p:nvSpPr>
          <p:cNvPr id="39" name="tech-context-0">
            <a:extLst xmlns:a="http://schemas.openxmlformats.org/drawingml/2006/main">
              <a:ext uri="{FF2B5EF4-FFF2-40B4-BE49-F238E27FC236}">
                <a16:creationId xmlns:a16="http://schemas.microsoft.com/office/drawing/2014/main" id="{A31E7581-8275-41F6-A171-2A116B84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14575"/>
            <a:ext cx="868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97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F697A"/>
                </a:solidFill>
                <a:latin typeface="Calibri"/>
                <a:ea typeface="Calibri"/>
                <a:cs typeface="Calibri"/>
              </a:rPr>
              <a:t>주문 수집 API·누락 보정 배치 개발, 주문 트랜잭션 경계 분리</a:t>
            </a:r>
          </a:p>
        </p:txBody>
      </p:sp>
      <p:sp>
        <p:nvSpPr>
          <p:cNvPr id="40" name="tech-context-1">
            <a:extLst xmlns:a="http://schemas.openxmlformats.org/drawingml/2006/main">
              <a:ext uri="{FF2B5EF4-FFF2-40B4-BE49-F238E27FC236}">
                <a16:creationId xmlns:a16="http://schemas.microsoft.com/office/drawing/2014/main" id="{06A3F72D-1F30-4E48-95B8-3F8712FD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71800"/>
            <a:ext cx="868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97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F697A"/>
                </a:solidFill>
                <a:latin typeface="Calibri"/>
                <a:ea typeface="Calibri"/>
                <a:cs typeface="Calibri"/>
              </a:rPr>
              <a:t>주문·포인트 데이터 처리, 통계 조회·엑셀 출력과 이력 관리</a:t>
            </a:r>
          </a:p>
        </p:txBody>
      </p:sp>
      <p:sp>
        <p:nvSpPr>
          <p:cNvPr id="41" name="tech-context-2">
            <a:extLst xmlns:a="http://schemas.openxmlformats.org/drawingml/2006/main">
              <a:ext uri="{FF2B5EF4-FFF2-40B4-BE49-F238E27FC236}">
                <a16:creationId xmlns:a16="http://schemas.microsoft.com/office/drawing/2014/main" id="{F8F52D42-ADEB-4B93-8C0F-C58A5734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29025"/>
            <a:ext cx="868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97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F697A"/>
                </a:solidFill>
                <a:latin typeface="Calibri"/>
                <a:ea typeface="Calibri"/>
                <a:cs typeface="Calibri"/>
              </a:rPr>
              <a:t>세션·검색·외부 API 응답 캐시 흐름 분석과 관련 기능 개발·운영</a:t>
            </a:r>
          </a:p>
        </p:txBody>
      </p:sp>
      <p:sp>
        <p:nvSpPr>
          <p:cNvPr id="42" name="tech-context-3">
            <a:extLst xmlns:a="http://schemas.openxmlformats.org/drawingml/2006/main">
              <a:ext uri="{FF2B5EF4-FFF2-40B4-BE49-F238E27FC236}">
                <a16:creationId xmlns:a16="http://schemas.microsoft.com/office/drawing/2014/main" id="{FC532BD9-9321-4CF2-A9D8-2FD71BA0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86250"/>
            <a:ext cx="868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97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F697A"/>
                </a:solidFill>
                <a:latin typeface="Calibri"/>
                <a:ea typeface="Calibri"/>
                <a:cs typeface="Calibri"/>
              </a:rPr>
              <a:t>비동기 작업 등록 순서 개선, 타임아웃·결과 취합 흐름 분석 및 신규 제휴 연동</a:t>
            </a:r>
          </a:p>
        </p:txBody>
      </p:sp>
      <p:sp>
        <p:nvSpPr>
          <p:cNvPr id="43" name="tech-context-4">
            <a:extLst xmlns:a="http://schemas.openxmlformats.org/drawingml/2006/main">
              <a:ext uri="{FF2B5EF4-FFF2-40B4-BE49-F238E27FC236}">
                <a16:creationId xmlns:a16="http://schemas.microsoft.com/office/drawing/2014/main" id="{FB90540A-07E2-4C5A-A73B-E976B239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43475"/>
            <a:ext cx="868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97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F697A"/>
                </a:solidFill>
                <a:latin typeface="Calibri"/>
                <a:ea typeface="Calibri"/>
                <a:cs typeface="Calibri"/>
              </a:rPr>
              <a:t>AI API의 Docker·GitLab CI·Nomad 배포 구성과 인프라팀 공동 검증</a:t>
            </a:r>
          </a:p>
        </p:txBody>
      </p:sp>
      <p:sp>
        <p:nvSpPr>
          <p:cNvPr id="44" name="tech-context-5">
            <a:extLst xmlns:a="http://schemas.openxmlformats.org/drawingml/2006/main">
              <a:ext uri="{FF2B5EF4-FFF2-40B4-BE49-F238E27FC236}">
                <a16:creationId xmlns:a16="http://schemas.microsoft.com/office/drawing/2014/main" id="{18924273-6AA7-42B8-9EEF-7D0CE6C9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00700"/>
            <a:ext cx="868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97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F697A"/>
                </a:solidFill>
                <a:latin typeface="Calibri"/>
                <a:ea typeface="Calibri"/>
                <a:cs typeface="Calibri"/>
              </a:rPr>
              <a:t>질문 판별·답변 생성 API, JSON 응답 검증과 세션별 대화 맥락 관리</a:t>
            </a:r>
          </a:p>
        </p:txBody>
      </p:sp>
    </p:spTree>
    <p:extLst>
      <p:ext uri="{BB962C8B-B14F-4D97-AF65-F5344CB8AC3E}">
        <p14:creationId xmlns:p14="http://schemas.microsoft.com/office/powerpoint/2010/main" val="39822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EE3AC9-5728-4B51-B47A-DE139577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157FF"/>
                </a:solidFill>
              </a:defRPr>
            </a:pPr>
            <a:r>
              <a:rPr sz="975" b="1" i="0">
                <a:solidFill>
                  <a:srgbClr val="3157FF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2379B-5E1D-4B49-98A4-6826234F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67CB9-B284-47D2-A759-955ED55E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1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B6472"/>
                </a:solidFill>
              </a:defRPr>
            </a:pPr>
            <a:r>
              <a:rPr sz="975" b="1" i="0">
                <a:solidFill>
                  <a:srgbClr val="5B6472"/>
                </a:solidFill>
              </a:rPr>
              <a:t>PROJECT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ABC46-CBF9-4711-A51B-37442DEC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21722"/>
                </a:solidFill>
              </a:defRPr>
            </a:pPr>
            <a:r>
              <a:rPr sz="2700" b="1" i="0">
                <a:solidFill>
                  <a:srgbClr val="121722"/>
                </a:solidFill>
              </a:rPr>
              <a:t>여행·레저 주문·상품 제휴 연동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13CCD-D698-434B-9CD1-C5CBE932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157FF"/>
                </a:solidFill>
              </a:defRPr>
            </a:pPr>
            <a:r>
              <a:rPr sz="975" b="1" i="0">
                <a:solidFill>
                  <a:srgbClr val="3157FF"/>
                </a:solidFill>
              </a:rPr>
              <a:t>여행·레저 제휴 연동 플랫폼  ·  2025 - Present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502CED-0156-4ACA-A99C-7BBAAC89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EE6A5F"/>
                </a:solidFill>
              </a:defRPr>
            </a:pPr>
            <a:r>
              <a:rPr sz="1425" b="1" i="0">
                <a:solidFill>
                  <a:srgbClr val="EE6A5F"/>
                </a:solidFill>
              </a:rPr>
              <a:t>과제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5B465E-3C16-4E93-A4EF-A2070B68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57400"/>
            <a:ext cx="941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21722"/>
                </a:solidFill>
              </a:defRPr>
            </a:pPr>
            <a:r>
              <a:rPr sz="1350" b="0" i="0">
                <a:solidFill>
                  <a:srgbClr val="121722"/>
                </a:solidFill>
              </a:rPr>
              <a:t>제휴사별 응답 형식·상품 조건을 내부 주문 처리와 상품 반영 기준에 맞춰 연동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62911-D94B-4337-A2F6-23D29483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F9F7A"/>
                </a:solidFill>
              </a:defRPr>
            </a:pPr>
            <a:r>
              <a:rPr sz="1425" b="1" i="0">
                <a:solidFill>
                  <a:srgbClr val="0F9F7A"/>
                </a:solidFill>
              </a:rPr>
              <a:t>구현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4F61F6-E421-40B8-953D-5C5907C8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28900"/>
            <a:ext cx="941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21722"/>
                </a:solidFill>
              </a:defRPr>
            </a:pPr>
            <a:r>
              <a:rPr sz="1425" b="0" i="0">
                <a:solidFill>
                  <a:srgbClr val="121722"/>
                </a:solidFill>
              </a:rPr>
              <a:t>주문 수집 API·누락 보정 배치 개발, 신규 제휴 검색 API 연동</a:t>
            </a:r>
            <a:br>
              <a:rPr sz="1425" b="0" i="0">
                <a:solidFill>
                  <a:srgbClr val="121722"/>
                </a:solidFill>
              </a:rPr>
            </a:br>
            <a:r>
              <a:rPr sz="1425" b="0" i="0">
                <a:solidFill>
                  <a:srgbClr val="121722"/>
                </a:solidFill>
              </a:rPr>
              <a:t>비동기 작업 등록 순서 개선과 타임아웃·결과 취합 흐름 분석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A4747-BE27-4B7A-A992-6B4898AF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3157FF"/>
                </a:solidFill>
              </a:defRPr>
            </a:pPr>
            <a:r>
              <a:rPr sz="1425" b="1" i="0">
                <a:solidFill>
                  <a:srgbClr val="3157FF"/>
                </a:solidFill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80973-C0B7-4BEC-867E-89BABA59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57550"/>
            <a:ext cx="941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21722"/>
                </a:solidFill>
              </a:defRPr>
            </a:pPr>
            <a:r>
              <a:rPr sz="1350" b="0" i="0">
                <a:solidFill>
                  <a:srgbClr val="121722"/>
                </a:solidFill>
              </a:rPr>
              <a:t>2026년부터 제휴 연동 전담, 요구사항·규격 조율부터 개발·오픈 전 검증까지 주도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80506-6505-4BAA-B097-4A7598CC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05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16B08-D368-49BB-867D-0C7FEC45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2907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9AA3B2"/>
                </a:solidFill>
              </a:defRPr>
            </a:pPr>
            <a:r>
              <a:rPr sz="1425" b="1" i="0">
                <a:solidFill>
                  <a:srgbClr val="151B27"/>
                </a:solidFill>
              </a:rPr>
              <a:t>주문 수집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E792FD-98F1-4C51-A823-CC1AC45D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338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21722"/>
                </a:solidFill>
              </a:defRPr>
            </a:pPr>
            <a:r>
              <a:rPr sz="1200" b="0" i="0">
                <a:solidFill>
                  <a:srgbClr val="5F697A"/>
                </a:solidFill>
              </a:rPr>
              <a:t>실시간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366ED1-8BAC-4758-A6C7-ED609912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05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95B6A-BB35-48A4-9F7B-E380F047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2907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9AA3B2"/>
                </a:solidFill>
              </a:defRPr>
            </a:pPr>
            <a:r>
              <a:rPr sz="1425" b="1" i="0">
                <a:solidFill>
                  <a:srgbClr val="151B27"/>
                </a:solidFill>
              </a:rPr>
              <a:t>상태 반영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76112D-6734-41DE-A6E1-0962CB51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338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21722"/>
                </a:solidFill>
              </a:defRPr>
            </a:pPr>
            <a:r>
              <a:rPr sz="1200" b="0" i="0">
                <a:solidFill>
                  <a:srgbClr val="5F697A"/>
                </a:solidFill>
              </a:rPr>
              <a:t>주문·취소 저장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2E573E-33ED-404A-8CA2-DF1BE851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05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BA380D-27A5-4A4A-939C-D1796892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2907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9AA3B2"/>
                </a:solidFill>
              </a:defRPr>
            </a:pPr>
            <a:r>
              <a:rPr sz="1425" b="1" i="0">
                <a:solidFill>
                  <a:srgbClr val="151B27"/>
                </a:solidFill>
              </a:rPr>
              <a:t>누락 보정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9C4CF9-24C6-4AB2-9BA9-49126762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338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21722"/>
                </a:solidFill>
              </a:defRPr>
            </a:pPr>
            <a:r>
              <a:rPr sz="1200" b="0" i="0">
                <a:solidFill>
                  <a:srgbClr val="5F697A"/>
                </a:solidFill>
              </a:rPr>
              <a:t>보정 배치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E01557-D8A1-4482-83FA-E07647EC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E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600ECD-F3A1-46B2-8E36-89E2233D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1012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9AA3B2"/>
                </a:solidFill>
              </a:defRPr>
            </a:pPr>
            <a:r>
              <a:rPr sz="1425" b="1" i="0">
                <a:solidFill>
                  <a:srgbClr val="151B27"/>
                </a:solidFill>
              </a:rPr>
              <a:t>상품 수집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6554C5-78BF-45FF-A778-3D659AD6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1492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21722"/>
                </a:solidFill>
              </a:defRPr>
            </a:pPr>
            <a:r>
              <a:rPr sz="1200" b="0" i="0">
                <a:solidFill>
                  <a:srgbClr val="5F697A"/>
                </a:solidFill>
              </a:rPr>
              <a:t>API / 파일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3EB006-D7F1-4FAF-BD9D-5184CC56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86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E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543BE9-4D86-4382-9E0A-EAF9C418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1012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9AA3B2"/>
                </a:solidFill>
              </a:defRPr>
            </a:pPr>
            <a:r>
              <a:rPr sz="1425" b="1" i="0">
                <a:solidFill>
                  <a:srgbClr val="151B27"/>
                </a:solidFill>
              </a:rPr>
              <a:t>적재·정규화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132DA8-4D7B-4475-8707-ADABF7FC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1492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21722"/>
                </a:solidFill>
              </a:defRPr>
            </a:pPr>
            <a:r>
              <a:rPr sz="1200" b="0" i="0">
                <a:solidFill>
                  <a:srgbClr val="5F697A"/>
                </a:solidFill>
              </a:rPr>
              <a:t>상품 데이터 처리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EE9F33-DD00-4687-8ED9-481F4214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86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E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80D296-7D72-4980-AAE3-BA045904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1012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9AA3B2"/>
                </a:solidFill>
              </a:defRPr>
            </a:pPr>
            <a:r>
              <a:rPr sz="1425" b="1" i="0">
                <a:solidFill>
                  <a:srgbClr val="151B27"/>
                </a:solidFill>
              </a:rPr>
              <a:t>검색 반영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D158BF-B355-4854-BA15-AC5CD2F7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11492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21722"/>
                </a:solidFill>
              </a:defRPr>
            </a:pPr>
            <a:r>
              <a:rPr sz="1200" b="0" i="0">
                <a:solidFill>
                  <a:srgbClr val="5F697A"/>
                </a:solidFill>
              </a:rPr>
              <a:t>검색 데이터·노출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473254-9004-438E-9747-B5DD349A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483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3157FF"/>
                </a:solidFill>
              </a:defRPr>
            </a:pPr>
            <a:r>
              <a:rPr sz="825" b="1" i="0">
                <a:solidFill>
                  <a:srgbClr val="3157FF"/>
                </a:solidFill>
              </a:rPr>
              <a:t>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0F6097-FD68-451A-92F6-95B77B55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7912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21722"/>
                </a:solidFill>
              </a:defRPr>
            </a:pPr>
            <a:r>
              <a:rPr sz="1275" b="1" i="0">
                <a:solidFill>
                  <a:srgbClr val="121722"/>
                </a:solidFill>
              </a:rPr>
              <a:t>검색 노출 오류를 채널 분류·데이터 생성까지 추적하고 관리자 설정으로 개선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BFB8BA-BF77-42F3-8A13-4A3F8EEC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E02B1B-A074-4907-9DE6-AA34E82D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9AA3B2"/>
                </a:solidFill>
              </a:defRPr>
            </a:pPr>
            <a:r>
              <a:rPr sz="675" b="1" i="0">
                <a:solidFill>
                  <a:srgbClr val="9AA3B2"/>
                </a:solidFill>
              </a:rPr>
              <a:t>HEETAE LEE  /  BACKEND ENGINEER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9C8353-F169-4608-9806-D950B1B1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9AA3B2"/>
                </a:solidFill>
              </a:defRPr>
            </a:pPr>
            <a:r>
              <a:rPr sz="750" b="1" i="0">
                <a:solidFill>
                  <a:srgbClr val="9AA3B2"/>
                </a:solidFill>
              </a:rPr>
              <a:t>05</a:t>
            </a:r>
          </a:p>
        </p:txBody>
      </p:sp>
      <p:sp>
        <p:nvSpPr>
          <p:cNvPr id="37" name="order-lane">
            <a:extLst xmlns:a="http://schemas.openxmlformats.org/drawingml/2006/main">
              <a:ext uri="{FF2B5EF4-FFF2-40B4-BE49-F238E27FC236}">
                <a16:creationId xmlns:a16="http://schemas.microsoft.com/office/drawing/2014/main" id="{35CF1913-1BE3-4F71-9481-1768773A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338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4359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359FF"/>
                </a:solidFill>
                <a:latin typeface="Calibri"/>
                <a:ea typeface="Calibri"/>
                <a:cs typeface="Calibri"/>
              </a:rPr>
              <a:t>주문</a:t>
            </a:r>
          </a:p>
        </p:txBody>
      </p:sp>
      <p:sp>
        <p:nvSpPr>
          <p:cNvPr id="38" name="product-lane">
            <a:extLst xmlns:a="http://schemas.openxmlformats.org/drawingml/2006/main">
              <a:ext uri="{FF2B5EF4-FFF2-40B4-BE49-F238E27FC236}">
                <a16:creationId xmlns:a16="http://schemas.microsoft.com/office/drawing/2014/main" id="{C696CEF4-96EC-472F-AF46-7074FFA9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9E8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09E83"/>
                </a:solidFill>
                <a:latin typeface="Calibri"/>
                <a:ea typeface="Calibri"/>
                <a:cs typeface="Calibri"/>
              </a:rPr>
              <a:t>상품</a:t>
            </a:r>
          </a:p>
        </p:txBody>
      </p:sp>
    </p:spTree>
    <p:extLst>
      <p:ext uri="{BB962C8B-B14F-4D97-AF65-F5344CB8AC3E}">
        <p14:creationId xmlns:p14="http://schemas.microsoft.com/office/powerpoint/2010/main" val="17462622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337CA4-BFBB-49B3-9094-826A6ABA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157FF"/>
                </a:solidFill>
              </a:defRPr>
            </a:pPr>
            <a:r>
              <a:rPr sz="975" b="1" i="0">
                <a:solidFill>
                  <a:srgbClr val="3157FF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3E1EC-A3F0-4E3F-ADBF-51562D26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0F8D77-2BF3-4C4A-ABF5-6730D021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1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B6472"/>
                </a:solidFill>
              </a:defRPr>
            </a:pPr>
            <a:r>
              <a:rPr sz="975" b="1" i="0">
                <a:solidFill>
                  <a:srgbClr val="5B6472"/>
                </a:solidFill>
              </a:rPr>
              <a:t>ENGINEERING CASES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54C9E-850E-40FE-ADCC-B5A51F89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21722"/>
                </a:solidFill>
              </a:defRPr>
            </a:pPr>
            <a:r>
              <a:rPr sz="2700" b="1" i="0">
                <a:solidFill>
                  <a:srgbClr val="121722"/>
                </a:solidFill>
              </a:rPr>
              <a:t>주문·검색과 제휴 연동 안정성 개선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3F39E-66CF-4201-89B4-DFC46F24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트랜잭션 경계 분리, 응답 오류 격리와 제휴 접속 구조 개선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1C84B-BC6C-4026-81E2-DB76E755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24765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F69178-ECC6-4BE6-9638-877A365D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8993A7"/>
                </a:solidFill>
              </a:defRPr>
            </a:pPr>
            <a:r>
              <a:rPr sz="825" b="1" i="0">
                <a:solidFill>
                  <a:srgbClr val="8993A7"/>
                </a:solidFill>
              </a:rPr>
              <a:t>DESIGN FOCUS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A76CE-402B-451E-9497-3989556F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오류 영향 범위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BBD84F-F708-4591-9FFA-80DE1488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470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B8C0CE"/>
                </a:solidFill>
              </a:defRPr>
            </a:pPr>
            <a:r>
              <a:rPr sz="1200" b="0" i="0">
                <a:solidFill>
                  <a:srgbClr val="B8C0CE"/>
                </a:solidFill>
              </a:rPr>
              <a:t>핵심 처리와 외부 연동의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B8C0CE"/>
                </a:solidFill>
              </a:defRPr>
            </a:pPr>
            <a:r>
              <a:rPr sz="1200" b="0" i="0">
                <a:solidFill>
                  <a:srgbClr val="B8C0CE"/>
                </a:solidFill>
              </a:rPr>
              <a:t>실패 영향을 구분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114F06-681D-47A0-A35C-A63A3945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85A0FF"/>
                </a:solidFill>
              </a:defRPr>
            </a:pPr>
            <a:r>
              <a:rPr sz="1125" b="1" i="0">
                <a:solidFill>
                  <a:srgbClr val="85A0FF"/>
                </a:solidFill>
              </a:rPr>
              <a:t>Spring Transaction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BCE22-855C-4070-A4B9-A056D71A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339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85A0FF"/>
                </a:solidFill>
              </a:defRPr>
            </a:pPr>
            <a:r>
              <a:rPr sz="1125" b="1" i="0">
                <a:solidFill>
                  <a:srgbClr val="85A0FF"/>
                </a:solidFill>
              </a:rPr>
              <a:t>Java Concurrency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09B7F-A765-4C22-B1CE-BA1D745E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4D3AD"/>
                </a:solidFill>
              </a:defRPr>
            </a:pPr>
            <a:r>
              <a:rPr sz="1125" b="1" i="0">
                <a:solidFill>
                  <a:srgbClr val="54D3AD"/>
                </a:solidFill>
              </a:rPr>
              <a:t>WebFlux / WebClient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DCA15E-CFD7-493A-8AF8-B0B9D165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16267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EE6A5F"/>
                </a:solidFill>
              </a:defRPr>
            </a:pPr>
            <a:r>
              <a:rPr sz="975" b="1" i="0">
                <a:solidFill>
                  <a:srgbClr val="EE6A5F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FFC47D-BEBE-45AE-81F0-E1D735E2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124575"/>
            <a:ext cx="708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21722"/>
                </a:solidFill>
              </a:defRPr>
            </a:pPr>
            <a:r>
              <a:rPr sz="1275" b="1" i="0">
                <a:solidFill>
                  <a:srgbClr val="121722"/>
                </a:solidFill>
              </a:rPr>
              <a:t>실패 영향 격리, 접속 정책 설정화와 연결 오류 해결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FDEA9F-22D7-4F52-A62E-3673D9C9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4E4D4D-1FF4-4E35-9F38-1F6BE176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9AA3B2"/>
                </a:solidFill>
              </a:defRPr>
            </a:pPr>
            <a:r>
              <a:rPr sz="675" b="1" i="0">
                <a:solidFill>
                  <a:srgbClr val="9AA3B2"/>
                </a:solidFill>
              </a:rPr>
              <a:t>HEETAE LEE  /  BACKEND ENGINEER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28935A-56A2-4A11-965F-4A522B66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9AA3B2"/>
                </a:solidFill>
              </a:defRPr>
            </a:pPr>
            <a:r>
              <a:rPr sz="750" b="1" i="0">
                <a:solidFill>
                  <a:srgbClr val="9AA3B2"/>
                </a:solidFill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C688DA-A7DE-4991-A881-DE25946A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145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4258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4258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80E829-16F1-48F3-89C2-49EEA748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7645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1A26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41A26"/>
                </a:solidFill>
                <a:latin typeface="Calibri"/>
                <a:ea typeface="Calibri"/>
                <a:cs typeface="Calibri"/>
              </a:rPr>
              <a:t>주문 트랜잭션 분리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CF9899-10A0-4C5A-B59C-D3758FB6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384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258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4258FF"/>
                </a:solidFill>
                <a:latin typeface="Calibri"/>
                <a:ea typeface="Calibri"/>
                <a:cs typeface="Calibri"/>
              </a:rPr>
              <a:t>문제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543D6A-5BC7-42C5-815A-790CAC5D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384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9657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96579"/>
                </a:solidFill>
                <a:latin typeface="Calibri"/>
                <a:ea typeface="Calibri"/>
                <a:cs typeface="Calibri"/>
              </a:rPr>
              <a:t>후속 처리의 트랜잭션 영향이 주문 저장에 전파되는 구조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DCB4F5-60FB-4266-829E-8C373366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67000"/>
            <a:ext cx="74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258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4258FF"/>
                </a:solidFill>
                <a:latin typeface="Calibri"/>
                <a:ea typeface="Calibri"/>
                <a:cs typeface="Calibri"/>
              </a:rPr>
              <a:t>변경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BDC77B-1C7D-4E5E-9CFB-9718871C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22B3A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22B3A"/>
                </a:solidFill>
                <a:latin typeface="Calibri"/>
                <a:ea typeface="Calibri"/>
                <a:cs typeface="Calibri"/>
              </a:rPr>
              <a:t>기존 동기 흐름을 유지하며 비트랜잭션 Facade로 경계 분리</a:t>
            </a:r>
          </a:p>
          <a:p xmlns:a="http://schemas.openxmlformats.org/drawingml/2006/main">
            <a:pPr>
              <a:buNone/>
              <a:defRPr sz="1275" b="1">
                <a:solidFill>
                  <a:srgbClr val="222B3A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22B3A"/>
                </a:solidFill>
                <a:latin typeface="Calibri"/>
                <a:ea typeface="Calibri"/>
                <a:cs typeface="Calibri"/>
              </a:rPr>
              <a:t>주문 저장 완료 후 후속 처리 실행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CD4327-E184-4ACF-AC2B-CB189650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051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258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4258FF"/>
                </a:solidFill>
                <a:latin typeface="Calibri"/>
                <a:ea typeface="Calibri"/>
                <a:cs typeface="Calibri"/>
              </a:rPr>
              <a:t>검증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5627F4-FED9-43D6-96A6-BC27E130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051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9657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96579"/>
                </a:solidFill>
                <a:latin typeface="Calibri"/>
                <a:ea typeface="Calibri"/>
                <a:cs typeface="Calibri"/>
              </a:rPr>
              <a:t>호출 순서와 후속 처리 예외 격리를 단위 테스트로 확인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EC1EBC-AB1B-4FD8-8B9A-E68C7ED6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86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4258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4258F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31F0F9F-277C-4415-9AC3-D088944D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44805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1A26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41A26"/>
                </a:solidFill>
                <a:latin typeface="Calibri"/>
                <a:ea typeface="Calibri"/>
                <a:cs typeface="Calibri"/>
              </a:rPr>
              <a:t>비동기·병렬 제휴 검색 개선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09AC28-E6BE-46A5-AFB2-AE65E948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100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258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4258FF"/>
                </a:solidFill>
                <a:latin typeface="Calibri"/>
                <a:ea typeface="Calibri"/>
                <a:cs typeface="Calibri"/>
              </a:rPr>
              <a:t>문제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10E0C0E-0B79-4FAE-9022-CBDFA16A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9657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96579"/>
                </a:solidFill>
                <a:latin typeface="Calibri"/>
                <a:ea typeface="Calibri"/>
                <a:cs typeface="Calibri"/>
              </a:rPr>
              <a:t>일부 제휴 응답의 파싱 오류가 전체 검색 실패로 확산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A209CC1-63C5-42AA-8F87-E552A301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38600"/>
            <a:ext cx="74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258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4258FF"/>
                </a:solidFill>
                <a:latin typeface="Calibri"/>
                <a:ea typeface="Calibri"/>
                <a:cs typeface="Calibri"/>
              </a:rPr>
              <a:t>변경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E3AAED4-07DD-4726-8B2A-0BF7E271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386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22B3A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22B3A"/>
                </a:solidFill>
                <a:latin typeface="Calibri"/>
                <a:ea typeface="Calibri"/>
                <a:cs typeface="Calibri"/>
              </a:rPr>
              <a:t>비동기 작업 등록·순회 순서 안정화, 필수 필드·배열·가격 형식 검증</a:t>
            </a:r>
          </a:p>
          <a:p xmlns:a="http://schemas.openxmlformats.org/drawingml/2006/main">
            <a:pPr>
              <a:buNone/>
              <a:defRPr sz="1275" b="1">
                <a:solidFill>
                  <a:srgbClr val="222B3A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22B3A"/>
                </a:solidFill>
                <a:latin typeface="Calibri"/>
                <a:ea typeface="Calibri"/>
                <a:cs typeface="Calibri"/>
              </a:rPr>
              <a:t>제휴사별 파싱 예외 격리로 오류의 전체 검색 확산 차단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F0D2A52-606A-4D70-ACF5-D387EA23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958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258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4258FF"/>
                </a:solidFill>
                <a:latin typeface="Calibri"/>
                <a:ea typeface="Calibri"/>
                <a:cs typeface="Calibri"/>
              </a:rPr>
              <a:t>적용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B46B8C3-0C7A-40BA-B6BB-65A84B87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95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9657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96579"/>
                </a:solidFill>
                <a:latin typeface="Calibri"/>
                <a:ea typeface="Calibri"/>
                <a:cs typeface="Calibri"/>
              </a:rPr>
              <a:t>호출 흐름과 타임아웃·결과 취합 방식을 분석해 신규 연동에 적용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F740517-376D-4027-8029-DDCFF087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76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4258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4258F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B9888A-593D-4188-B207-A57F8629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3870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1A26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41A26"/>
                </a:solidFill>
                <a:latin typeface="Calibri"/>
                <a:ea typeface="Calibri"/>
                <a:cs typeface="Calibri"/>
              </a:rPr>
              <a:t>Proxy 정책 설정화와 502 오류 해결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31740F6-862C-4089-BAFC-252DC302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219700"/>
            <a:ext cx="74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258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4258FF"/>
                </a:solidFill>
                <a:latin typeface="Calibri"/>
                <a:ea typeface="Calibri"/>
                <a:cs typeface="Calibri"/>
              </a:rPr>
              <a:t>설정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6FB7A8F-3C15-4CF0-90C3-A1626631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197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9657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96579"/>
                </a:solidFill>
                <a:latin typeface="Calibri"/>
                <a:ea typeface="Calibri"/>
                <a:cs typeface="Calibri"/>
              </a:rPr>
              <a:t>제휴사별 Proxy 기준을 DB 설정·공통 정책으로 일원화해 운영 배포</a:t>
            </a:r>
          </a:p>
          <a:p xmlns:a="http://schemas.openxmlformats.org/drawingml/2006/main">
            <a:pPr>
              <a:buNone/>
              <a:defRPr sz="1275" b="0">
                <a:solidFill>
                  <a:srgbClr val="59657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96579"/>
                </a:solidFill>
                <a:latin typeface="Calibri"/>
                <a:ea typeface="Calibri"/>
                <a:cs typeface="Calibri"/>
              </a:rPr>
              <a:t>대상 변경을 코드 배포 없이 설정으로 처리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526EACA-FBFE-46F1-9547-9A701162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695950"/>
            <a:ext cx="74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258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4258FF"/>
                </a:solidFill>
                <a:latin typeface="Calibri"/>
                <a:ea typeface="Calibri"/>
                <a:cs typeface="Calibri"/>
              </a:rPr>
              <a:t>오류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FCFDFDF-7B2F-40B7-8094-198203BA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959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9657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96579"/>
                </a:solidFill>
                <a:latin typeface="Calibri"/>
                <a:ea typeface="Calibri"/>
                <a:cs typeface="Calibri"/>
              </a:rPr>
              <a:t>개발 연동 환경의 끊어진 커넥션 재사용을 추적</a:t>
            </a:r>
          </a:p>
          <a:p xmlns:a="http://schemas.openxmlformats.org/drawingml/2006/main">
            <a:pPr>
              <a:buNone/>
              <a:defRPr sz="1275" b="0">
                <a:solidFill>
                  <a:srgbClr val="59657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96579"/>
                </a:solidFill>
                <a:latin typeface="Calibri"/>
                <a:ea typeface="Calibri"/>
                <a:cs typeface="Calibri"/>
              </a:rPr>
              <a:t>인프라팀과 Apache 커넥션 TTL을 조정해 간헐적 502 해결</a:t>
            </a:r>
          </a:p>
        </p:txBody>
      </p:sp>
    </p:spTree>
    <p:extLst>
      <p:ext uri="{BB962C8B-B14F-4D97-AF65-F5344CB8AC3E}">
        <p14:creationId xmlns:p14="http://schemas.microsoft.com/office/powerpoint/2010/main" val="6682236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3F0A8B-6333-42B1-8A88-50EE5226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157FF"/>
                </a:solidFill>
              </a:defRPr>
            </a:pPr>
            <a:r>
              <a:rPr sz="975" b="1" i="0">
                <a:solidFill>
                  <a:srgbClr val="3157FF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4CFC1-06D0-47EB-BC67-6C428C43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0AF9E-59C4-4119-B1AA-5CF0F81E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1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B6472"/>
                </a:solidFill>
              </a:defRPr>
            </a:pPr>
            <a:r>
              <a:rPr sz="975" b="1" i="0">
                <a:solidFill>
                  <a:srgbClr val="5B6472"/>
                </a:solidFill>
              </a:rPr>
              <a:t>PROJECT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C6A3F-59F3-4F73-BC58-23400F42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21722"/>
                </a:solidFill>
              </a:defRPr>
            </a:pPr>
            <a:r>
              <a:rPr sz="2700" b="1" i="0">
                <a:solidFill>
                  <a:srgbClr val="121722"/>
                </a:solidFill>
              </a:rPr>
              <a:t>재원별 포인트·통계와 운영 기능 개발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2D809-2CBA-4008-9012-EA80613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0F9F7A"/>
                </a:solidFill>
              </a:defRPr>
            </a:pPr>
            <a:r>
              <a:rPr sz="975" b="1" i="0">
                <a:solidFill>
                  <a:srgbClr val="0F9F7A"/>
                </a:solidFill>
              </a:rPr>
              <a:t>한국관광공사(KTO) 휴가샵 Web/App 커머스 서비스  ·  2024.04 - Present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E5FF8-8515-4767-9C65-F7CF67FF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896600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ABEECE-849D-4D5E-9E12-9789D1AA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1857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157FF"/>
                </a:solidFill>
              </a:defRPr>
            </a:pPr>
            <a:r>
              <a:rPr sz="1500" b="1" i="0">
                <a:solidFill>
                  <a:srgbClr val="3157FF"/>
                </a:solidFill>
              </a:rPr>
              <a:t>포인트 처리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2D0F8-B3CA-419F-992C-507FBB7F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9800"/>
            <a:ext cx="828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21722"/>
                </a:solidFill>
              </a:defRPr>
            </a:pPr>
            <a:r>
              <a:rPr sz="1425" b="1" i="0">
                <a:solidFill>
                  <a:srgbClr val="121722"/>
                </a:solidFill>
              </a:rPr>
              <a:t>근로자·기업·정부 재원별 포인트를 구분해</a:t>
            </a:r>
            <a:br>
              <a:rPr sz="1425" b="1" i="0">
                <a:solidFill>
                  <a:srgbClr val="121722"/>
                </a:solidFill>
              </a:rPr>
            </a:br>
            <a:r>
              <a:rPr sz="1425" b="1" i="0">
                <a:solidFill>
                  <a:srgbClr val="121722"/>
                </a:solidFill>
              </a:rPr>
              <a:t>주문·사용내역과 통계 산출 기준에 반영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258E50-D74E-4FCC-AF37-D8227FE1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67050"/>
            <a:ext cx="10896600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4BCA9-62B2-4DF8-882F-0820D817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1857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E6A5F"/>
                </a:solidFill>
              </a:defRPr>
            </a:pPr>
            <a:r>
              <a:rPr sz="1500" b="1" i="0">
                <a:solidFill>
                  <a:srgbClr val="EE6A5F"/>
                </a:solidFill>
              </a:rPr>
              <a:t>통계·리포트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9A6BDB-851E-4838-B822-7275EBF3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62300"/>
            <a:ext cx="828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21722"/>
                </a:solidFill>
              </a:defRPr>
            </a:pPr>
            <a:r>
              <a:rPr sz="1425" b="1" i="0">
                <a:solidFill>
                  <a:srgbClr val="121722"/>
                </a:solidFill>
              </a:rPr>
              <a:t>주문·포인트 원천 데이터를 일자·상품 유형·지역·포인트 그룹별로 재구성</a:t>
            </a:r>
            <a:br>
              <a:rPr sz="1425" b="1" i="0">
                <a:solidFill>
                  <a:srgbClr val="121722"/>
                </a:solidFill>
              </a:rPr>
            </a:br>
            <a:r>
              <a:rPr sz="1425" b="1" i="0">
                <a:solidFill>
                  <a:srgbClr val="121722"/>
                </a:solidFill>
              </a:rPr>
              <a:t>국회요구자료 조회·엑셀 출력과 일일 리포트 데이터 처리 구현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687A46-A717-4154-B2D8-BCA311DB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9550"/>
            <a:ext cx="10896600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2E2798-98DE-413A-99F9-E431F0C0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1857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0F9F7A"/>
                </a:solidFill>
              </a:defRPr>
            </a:pPr>
            <a:r>
              <a:rPr sz="1500" b="1" i="0">
                <a:solidFill>
                  <a:srgbClr val="0F9F7A"/>
                </a:solidFill>
              </a:rPr>
              <a:t>운영 기능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F93A7C-AA78-408A-89E6-3B9F0203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14800"/>
            <a:ext cx="828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21722"/>
                </a:solidFill>
              </a:defRPr>
            </a:pPr>
            <a:r>
              <a:rPr sz="1425" b="1" i="0">
                <a:solidFill>
                  <a:srgbClr val="121722"/>
                </a:solidFill>
              </a:rPr>
              <a:t>부적합 상품의 후보 확인·운영자 판정·노출 제외 기능 구현</a:t>
            </a:r>
            <a:br>
              <a:rPr sz="1425" b="1" i="0">
                <a:solidFill>
                  <a:srgbClr val="121722"/>
                </a:solidFill>
              </a:rPr>
            </a:br>
            <a:r>
              <a:rPr sz="1425" b="1" i="0">
                <a:solidFill>
                  <a:srgbClr val="121722"/>
                </a:solidFill>
              </a:rPr>
              <a:t>메시지 발송 대상 엑셀 업로드로 반복 대량 업무를 관리자 기능으로 전환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EEF429-2CEC-40BE-8B39-9ADE7E9A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21722"/>
                </a:solidFill>
              </a:defRPr>
            </a:pPr>
            <a:r>
              <a:rPr sz="1350" b="1" i="0">
                <a:solidFill>
                  <a:srgbClr val="121722"/>
                </a:solidFill>
              </a:rPr>
              <a:t>기술 적용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1AF9B0-EAF7-4A44-8FC7-1001B3E1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191125"/>
            <a:ext cx="9286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21722"/>
                </a:solidFill>
              </a:defRPr>
            </a:pPr>
            <a:r>
              <a:rPr sz="1350" b="0" i="0">
                <a:solidFill>
                  <a:srgbClr val="121722"/>
                </a:solidFill>
              </a:rPr>
              <a:t>Redis 기반 Spring Session·Spring Cache의 세션·검색·외부 API 응답 캐시 흐름을 분석하고</a:t>
            </a:r>
            <a:br>
              <a:rPr sz="1350" b="0" i="0">
                <a:solidFill>
                  <a:srgbClr val="121722"/>
                </a:solidFill>
              </a:rPr>
            </a:br>
            <a:r>
              <a:rPr sz="1350" b="0" i="0">
                <a:solidFill>
                  <a:srgbClr val="121722"/>
                </a:solidFill>
              </a:rPr>
              <a:t>관련 기능 개발·운영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5A04E2-4162-4CDA-BCAF-66217FA4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C7A6E4-2709-47C0-A86F-6DB61668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9AA3B2"/>
                </a:solidFill>
              </a:defRPr>
            </a:pPr>
            <a:r>
              <a:rPr sz="675" b="1" i="0">
                <a:solidFill>
                  <a:srgbClr val="9AA3B2"/>
                </a:solidFill>
              </a:rPr>
              <a:t>HEETAE LEE  /  BACKEND ENGINEER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FFD9F6-3B9A-4C75-A911-007B2E4A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9AA3B2"/>
                </a:solidFill>
              </a:defRPr>
            </a:pPr>
            <a:r>
              <a:rPr sz="750" b="1" i="0">
                <a:solidFill>
                  <a:srgbClr val="9AA3B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314019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4D5B7F-DBCA-4033-B9E5-339E46B2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157FF"/>
                </a:solidFill>
              </a:defRPr>
            </a:pPr>
            <a:r>
              <a:rPr sz="975" b="1" i="0">
                <a:solidFill>
                  <a:srgbClr val="3157FF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E8732-6CA4-4003-9FDA-A937104B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513A89-2944-4D6D-A9CA-668E980E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1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B6472"/>
                </a:solidFill>
              </a:defRPr>
            </a:pPr>
            <a:r>
              <a:rPr sz="975" b="1" i="0">
                <a:solidFill>
                  <a:srgbClr val="5B6472"/>
                </a:solidFill>
              </a:rPr>
              <a:t>PROJECT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F550E-C784-46A8-B823-C7C746E0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21722"/>
                </a:solidFill>
              </a:defRPr>
            </a:pPr>
            <a:r>
              <a:rPr sz="2700" b="1" i="0">
                <a:solidFill>
                  <a:srgbClr val="121722"/>
                </a:solidFill>
              </a:rPr>
              <a:t>고객사별 신청 정책·이력 관리와 보안 개선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15049-D53A-4B8F-BD39-B9F8846E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E6A5F"/>
                </a:solidFill>
              </a:defRPr>
            </a:pPr>
            <a:r>
              <a:rPr sz="975" b="1" i="0">
                <a:solidFill>
                  <a:srgbClr val="EE6A5F"/>
                </a:solidFill>
              </a:rPr>
              <a:t>Benepia 복지 커머스 플랫폼  ·  2022.02 - 2024.03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70F7C-045C-4693-834D-260A2305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34099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B049E-2314-4E76-9577-8E089942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8993A7"/>
                </a:solidFill>
              </a:defRPr>
            </a:pPr>
            <a:r>
              <a:rPr sz="825" b="1" i="0">
                <a:solidFill>
                  <a:srgbClr val="8993A7"/>
                </a:solidFill>
              </a:rPr>
              <a:t>COMMON 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8B34D-DA4A-4B1E-BBC7-D336A472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Java / Spring Boot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6DE302-5B79-4F73-91CE-3D809066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JSP / JavaScript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02B08-D0D9-4B87-A532-08A5756F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Oracle / MyBatis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9EB2D8-D56B-4B58-87B3-8A3D3917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Redis Session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BBA1C-0E2F-47FA-8196-6DE4A774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9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92290B-DD82-420B-9AA6-D0488FFF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B8C0CE"/>
                </a:solidFill>
              </a:defRPr>
            </a:pPr>
            <a:r>
              <a:rPr sz="1125" b="0" i="0">
                <a:solidFill>
                  <a:srgbClr val="B8C0CE"/>
                </a:solidFill>
              </a:rPr>
              <a:t>공통 플랫폼 유지와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B8C0CE"/>
                </a:solidFill>
              </a:defRPr>
            </a:pPr>
            <a:r>
              <a:rPr sz="1125" b="0" i="0">
                <a:solidFill>
                  <a:srgbClr val="B8C0CE"/>
                </a:solidFill>
              </a:rPr>
              <a:t>고객사별 영향 범위 분리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5183F9-1E47-42A0-86CA-F558BE09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33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3157FF"/>
                </a:solidFill>
              </a:defRPr>
            </a:pPr>
            <a:r>
              <a:rPr sz="1500" b="1" i="0">
                <a:solidFill>
                  <a:srgbClr val="3157FF"/>
                </a:solidFill>
              </a:rPr>
              <a:t>고객사별 기능·정책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5A2442-5D4F-4E2E-8E87-EB813965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86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61DC50-7052-45B9-858C-C0691D9A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09850"/>
            <a:ext cx="601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21722"/>
                </a:solidFill>
              </a:defRPr>
            </a:pPr>
            <a:r>
              <a:rPr sz="1425" b="0" i="0">
                <a:solidFill>
                  <a:srgbClr val="121722"/>
                </a:solidFill>
              </a:rPr>
              <a:t>예약 기간·시간대 정원·중복 신청 제한을 반영하고</a:t>
            </a:r>
            <a:br>
              <a:rPr sz="1425" b="0" i="0">
                <a:solidFill>
                  <a:srgbClr val="121722"/>
                </a:solidFill>
              </a:rPr>
            </a:br>
            <a:r>
              <a:rPr sz="1425" b="0" i="0">
                <a:solidFill>
                  <a:srgbClr val="121722"/>
                </a:solidFill>
              </a:rPr>
              <a:t>개인정보 동의와 신청 이력까지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07DF77-D8E9-4519-B2A3-5B739AE2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90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F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1A4EC6-F778-4042-8D78-85887837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14700"/>
            <a:ext cx="601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21722"/>
                </a:solidFill>
              </a:defRPr>
            </a:pPr>
            <a:r>
              <a:rPr sz="1425" b="0" i="0">
                <a:solidFill>
                  <a:srgbClr val="121722"/>
                </a:solidFill>
              </a:rPr>
              <a:t>복지카드·신청·동의 기능에 현재값과 변경 이력을</a:t>
            </a:r>
            <a:br>
              <a:rPr sz="1425" b="0" i="0">
                <a:solidFill>
                  <a:srgbClr val="121722"/>
                </a:solidFill>
              </a:rPr>
            </a:br>
            <a:r>
              <a:rPr sz="1425" b="0" i="0">
                <a:solidFill>
                  <a:srgbClr val="121722"/>
                </a:solidFill>
              </a:rPr>
              <a:t>함께 관리하는 데이터 구조 적용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D110BA-8EB2-4E67-B026-2CA5564E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95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65CDBF-2154-4E11-83CD-C0F03846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19550"/>
            <a:ext cx="601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21722"/>
                </a:solidFill>
              </a:defRPr>
            </a:pPr>
            <a:r>
              <a:rPr sz="1425" b="0" i="0">
                <a:solidFill>
                  <a:srgbClr val="121722"/>
                </a:solidFill>
              </a:rPr>
              <a:t>공공 복지 신청의 본문·첨부파일·처리 상태를</a:t>
            </a:r>
            <a:br>
              <a:rPr sz="1425" b="0" i="0">
                <a:solidFill>
                  <a:srgbClr val="121722"/>
                </a:solidFill>
              </a:rPr>
            </a:br>
            <a:r>
              <a:rPr sz="1425" b="0" i="0">
                <a:solidFill>
                  <a:srgbClr val="121722"/>
                </a:solidFill>
              </a:rPr>
              <a:t>사용자 화면과 관리자 조회 기능으로 구현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678716-68A6-4FB7-A5AC-546C9CCD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768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3157FF"/>
                </a:solidFill>
              </a:defRPr>
            </a:pPr>
            <a:r>
              <a:rPr sz="1500" b="1" i="0">
                <a:solidFill>
                  <a:srgbClr val="3157FF"/>
                </a:solidFill>
              </a:rPr>
              <a:t>보안 점검 및 개선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EBAAE5-D423-4DC5-86B2-9415D049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286375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21722"/>
                </a:solidFill>
              </a:defRPr>
            </a:pPr>
            <a:r>
              <a:rPr sz="1425" b="0" i="0">
                <a:solidFill>
                  <a:srgbClr val="121722"/>
                </a:solidFill>
              </a:rPr>
              <a:t>관리자 조회의 민감정보 마스킹과 인증·세션·접근제어,</a:t>
            </a:r>
            <a:br>
              <a:rPr sz="1425" b="0" i="0">
                <a:solidFill>
                  <a:srgbClr val="121722"/>
                </a:solidFill>
              </a:rPr>
            </a:br>
            <a:r>
              <a:rPr sz="1425" b="0" i="0">
                <a:solidFill>
                  <a:srgbClr val="121722"/>
                </a:solidFill>
              </a:rPr>
              <a:t>XSS/CSRF 점검 항목을 개선하고 기존 업무 흐름 유지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DE492D-A11F-41E4-9C86-56DE8B3E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0579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EE6A5F"/>
                </a:solidFill>
              </a:defRPr>
            </a:pPr>
            <a:r>
              <a:rPr sz="900" b="1" i="0">
                <a:solidFill>
                  <a:srgbClr val="EE6A5F"/>
                </a:solidFill>
              </a:rPr>
              <a:t>ISMS / e-Privacy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6E4399-73AD-48E8-A90D-CEB7B63E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F50B2E-F5B9-4841-95B2-9ACC5CCE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9AA3B2"/>
                </a:solidFill>
              </a:defRPr>
            </a:pPr>
            <a:r>
              <a:rPr sz="675" b="1" i="0">
                <a:solidFill>
                  <a:srgbClr val="9AA3B2"/>
                </a:solidFill>
              </a:rPr>
              <a:t>HEETAE LEE  /  BACKEND ENGINEER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20192A-DCCA-41D8-9644-A6817F08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9AA3B2"/>
                </a:solidFill>
              </a:defRPr>
            </a:pPr>
            <a:r>
              <a:rPr sz="750" b="1" i="0">
                <a:solidFill>
                  <a:srgbClr val="9AA3B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4612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9BD8E5-8A9F-4E36-A62C-AD79C1E2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157FF"/>
                </a:solidFill>
              </a:defRPr>
            </a:pPr>
            <a:r>
              <a:rPr sz="975" b="1" i="0">
                <a:solidFill>
                  <a:srgbClr val="3157FF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8E3A6-4F81-4DE7-AD1D-5108973B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0D6AA-B4E0-4E99-90DC-2A27014C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1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B6472"/>
                </a:solidFill>
              </a:defRPr>
            </a:pPr>
            <a:r>
              <a:rPr sz="975" b="1" i="0">
                <a:solidFill>
                  <a:srgbClr val="5B6472"/>
                </a:solidFill>
              </a:rPr>
              <a:t>PROJECT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FF9CE-7D3D-49DD-8DC8-DFEA9FE1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21722"/>
                </a:solidFill>
              </a:defRPr>
            </a:pPr>
            <a:r>
              <a:rPr sz="2700" b="1" i="0">
                <a:solidFill>
                  <a:srgbClr val="121722"/>
                </a:solidFill>
              </a:rPr>
              <a:t>사내 첫 Python 여행 AI Q&amp;A API 구축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80560-760F-4F0D-B898-90D54D82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157FF"/>
                </a:solidFill>
              </a:defRPr>
            </a:pPr>
            <a:r>
              <a:rPr sz="975" b="1" i="0">
                <a:solidFill>
                  <a:srgbClr val="3157FF"/>
                </a:solidFill>
              </a:rPr>
              <a:t>2023 · CTO와 2인 TF · API 설계·구현 및 배포 검증 주도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31285-A18F-454F-B58B-7B384D5E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21722"/>
                </a:solidFill>
              </a:defRPr>
            </a:pPr>
            <a:r>
              <a:rPr sz="1500" b="1" i="0">
                <a:solidFill>
                  <a:srgbClr val="121722"/>
                </a:solidFill>
              </a:rPr>
              <a:t>직접 구현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FE492-DA1B-4A1D-B8FA-2B6601D9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30447-3EE3-40E6-9620-DB0ADFDF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516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21722"/>
                </a:solidFill>
              </a:defRPr>
            </a:pPr>
            <a:r>
              <a:rPr sz="1275" b="0" i="0">
                <a:solidFill>
                  <a:srgbClr val="121722"/>
                </a:solidFill>
              </a:rPr>
              <a:t>국내 여행 질문 판별 후 답변을 생성하도록</a:t>
            </a:r>
            <a:br/>
            <a:r>
              <a:rPr sz="1275" b="0" i="0">
                <a:solidFill>
                  <a:srgbClr val="121722"/>
                </a:solidFill>
              </a:rPr>
              <a:t>Azure OpenAI 호출을 2단계로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B50F3-D96E-4A0C-A803-AA8F6567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F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E572F-8BC5-40F0-8D47-D3E4AE99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516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21722"/>
                </a:solidFill>
              </a:defRPr>
            </a:pPr>
            <a:r>
              <a:rPr sz="1275" b="0" i="0">
                <a:solidFill>
                  <a:srgbClr val="121722"/>
                </a:solidFill>
              </a:rPr>
              <a:t>JSON 파싱·검증·보정과 응답 상태 설계로</a:t>
            </a:r>
            <a:br>
              <a:rPr sz="1275" b="0" i="0">
                <a:solidFill>
                  <a:srgbClr val="121722"/>
                </a:solidFill>
              </a:rPr>
            </a:br>
            <a:r>
              <a:rPr sz="1275" b="0" i="0">
                <a:solidFill>
                  <a:srgbClr val="121722"/>
                </a:solidFill>
              </a:rPr>
              <a:t>모델 출력을 서비스 API 계약에 연결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F4EF6F-F3A4-4CE1-A825-77D564EA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FF7A74-B739-40FF-AEF7-B6850A31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516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21722"/>
                </a:solidFill>
              </a:defRPr>
            </a:pPr>
            <a:r>
              <a:rPr sz="1275" b="0" i="0">
                <a:solidFill>
                  <a:srgbClr val="121722"/>
                </a:solidFill>
              </a:rPr>
              <a:t>Oracle에 이력을 보존하고 프로세스 내 LRU 캐시로</a:t>
            </a:r>
            <a:br>
              <a:rPr sz="1275" b="0" i="0">
                <a:solidFill>
                  <a:srgbClr val="121722"/>
                </a:solidFill>
              </a:rPr>
            </a:br>
            <a:r>
              <a:rPr sz="1275" b="0" i="0">
                <a:solidFill>
                  <a:srgbClr val="121722"/>
                </a:solidFill>
              </a:rPr>
              <a:t>세션별 최근 대화 맥락 관리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D3F846-9BD9-4FBF-84CB-35900AF6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2F7FCA-EF8A-4F62-BFBC-AD3FB36B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516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21722"/>
                </a:solidFill>
              </a:defRPr>
            </a:pPr>
            <a:r>
              <a:rPr sz="1275" b="0" i="0">
                <a:solidFill>
                  <a:srgbClr val="121722"/>
                </a:solidFill>
              </a:rPr>
              <a:t>독립 Docker API 서버와 GitLab CI·Nomad 배포 구성,</a:t>
            </a:r>
            <a:br>
              <a:rPr sz="1275" b="0" i="0">
                <a:solidFill>
                  <a:srgbClr val="121722"/>
                </a:solidFill>
              </a:rPr>
            </a:br>
            <a:r>
              <a:rPr sz="1275" b="0" i="0">
                <a:solidFill>
                  <a:srgbClr val="121722"/>
                </a:solidFill>
              </a:rPr>
              <a:t>인프라팀과 DB·Proxy·로그·상태 점검·롤백 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176F4C-5852-42B5-89E6-9CE8999F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24450"/>
            <a:ext cx="5410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F58F70-C612-4A0F-878E-5FA3C4B2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149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8993A7"/>
                </a:solidFill>
              </a:defRPr>
            </a:pPr>
            <a:r>
              <a:rPr sz="825" b="1" i="0">
                <a:solidFill>
                  <a:srgbClr val="8993A7"/>
                </a:solidFill>
              </a:rPr>
              <a:t>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76923D-FD32-40D1-A2FB-C289C448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57800"/>
            <a:ext cx="4152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서비스에서 호출할 수 있는 독립 Python/Flask API와</a:t>
            </a:r>
          </a:p>
          <a:p xmlns:a="http://schemas.openxmlformats.org/drawingml/2006/main">
            <a:pPr algn="l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Docker 기반 배포 구성 마련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84990B-89CB-4C87-9D59-D3F417A8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43100"/>
            <a:ext cx="48768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A99509-BC06-4D14-A0C0-0FF0B9573C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97df3161284e8c"/>
          <a:stretch xmlns:a="http://schemas.openxmlformats.org/drawingml/2006/main"/>
        </p:blipFill>
        <p:spPr>
          <a:xfrm xmlns:a="http://schemas.openxmlformats.org/drawingml/2006/main">
            <a:off x="6877050" y="2292659"/>
            <a:ext cx="1352550" cy="3339482"/>
          </a:xfrm>
          <a:prstGeom xmlns:a="http://schemas.openxmlformats.org/drawingml/2006/main" prst="roundRect">
            <a:avLst>
              <a:gd name="adj" fmla="val 5634"/>
            </a:avLst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EBAD545-0980-4B4B-BFB8-E06C83AA6E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d0ca364ac47cb"/>
          <a:stretch xmlns:a="http://schemas.openxmlformats.org/drawingml/2006/main"/>
        </p:blipFill>
        <p:spPr>
          <a:xfrm xmlns:a="http://schemas.openxmlformats.org/drawingml/2006/main">
            <a:off x="8420100" y="2292659"/>
            <a:ext cx="1352550" cy="3339482"/>
          </a:xfrm>
          <a:prstGeom xmlns:a="http://schemas.openxmlformats.org/drawingml/2006/main" prst="roundRect">
            <a:avLst>
              <a:gd name="adj" fmla="val 5634"/>
            </a:avLst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05F375F-FA41-4E03-8C23-A50280869A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265ccd63845a9"/>
          <a:stretch xmlns:a="http://schemas.openxmlformats.org/drawingml/2006/main"/>
        </p:blipFill>
        <p:spPr>
          <a:xfrm xmlns:a="http://schemas.openxmlformats.org/drawingml/2006/main">
            <a:off x="10169742" y="2133600"/>
            <a:ext cx="939367" cy="3657600"/>
          </a:xfrm>
          <a:prstGeom xmlns:a="http://schemas.openxmlformats.org/drawingml/2006/main" prst="roundRect">
            <a:avLst>
              <a:gd name="adj" fmla="val 5634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7017D6-442E-49D9-A4C4-2B3DD8F7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95AD20-DF6F-44F3-ACC7-90FE1D70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9AA3B2"/>
                </a:solidFill>
              </a:defRPr>
            </a:pPr>
            <a:r>
              <a:rPr sz="675" b="1" i="0">
                <a:solidFill>
                  <a:srgbClr val="9AA3B2"/>
                </a:solidFill>
              </a:rPr>
              <a:t>HEETAE LEE  /  BACKEND ENGINEER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9FD646-89A1-4FB2-8CEB-725FB99E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9AA3B2"/>
                </a:solidFill>
              </a:defRPr>
            </a:pPr>
            <a:r>
              <a:rPr sz="750" b="1" i="0">
                <a:solidFill>
                  <a:srgbClr val="9AA3B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005957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06587B-DCB2-47B7-94E9-95172C2B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157FF"/>
                </a:solidFill>
              </a:defRPr>
            </a:pPr>
            <a:r>
              <a:rPr sz="975" b="1" i="0">
                <a:solidFill>
                  <a:srgbClr val="3157FF"/>
                </a:solidFill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E1BEB-845C-44D6-A68C-F8B616E6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5A8FE-04F2-4734-A508-67E549EB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1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B6472"/>
                </a:solidFill>
              </a:defRPr>
            </a:pPr>
            <a:r>
              <a:rPr sz="975" b="1" i="0">
                <a:solidFill>
                  <a:srgbClr val="5B6472"/>
                </a:solidFill>
              </a:rPr>
              <a:t>ENGINEERING APPROACH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08338-68F7-471F-8322-0EAE06F1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21722"/>
                </a:solidFill>
              </a:defRPr>
            </a:pPr>
            <a:r>
              <a:rPr sz="2700" b="1" i="0">
                <a:solidFill>
                  <a:srgbClr val="121722"/>
                </a:solidFill>
              </a:rPr>
              <a:t>AI-DLC &amp; Harness 기반 개발 업무 환경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2A823-47FE-4A36-83C5-65468F5D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분석부터 구현·테스트·기록까지 AI와 협업하고, 변경 범위와 반영 여부는 직접 결정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1C1349-0B43-4AD0-8EE2-7BC82614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B3FC8A-C171-46C3-AED9-8E93B575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9AA3B2"/>
                </a:solidFill>
              </a:defRPr>
            </a:pPr>
            <a:r>
              <a:rPr sz="675" b="1" i="0">
                <a:solidFill>
                  <a:srgbClr val="9AA3B2"/>
                </a:solidFill>
              </a:rPr>
              <a:t>HEETAE LEE  /  BACKEND ENGINEER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280173-BC69-4BDC-96FF-51A2EC37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9AA3B2"/>
                </a:solidFill>
              </a:defRPr>
            </a:pPr>
            <a:r>
              <a:rPr sz="750" b="1" i="0">
                <a:solidFill>
                  <a:srgbClr val="9AA3B2"/>
                </a:solidFill>
              </a:rPr>
              <a:t>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BCA70E-E4CE-4E07-B48A-C076BEC3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4258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4258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7C1702-7C9A-4779-AE30-CC87BD0F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41A26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41A26"/>
                </a:solidFill>
                <a:latin typeface="Calibri"/>
                <a:ea typeface="Calibri"/>
                <a:cs typeface="Calibri"/>
              </a:rPr>
              <a:t>공통 지침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DC08F8-51A0-4C54-9B8C-4C75AD4F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5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96579"/>
                </a:solidFill>
                <a:latin typeface="Calibri"/>
                <a:ea typeface="Calibri"/>
                <a:cs typeface="Calibri"/>
              </a:rPr>
              <a:t>개발자가 변경 범위와</a:t>
            </a:r>
          </a:p>
          <a:p xmlns:a="http://schemas.openxmlformats.org/drawingml/2006/main">
            <a:pPr>
              <a:buNone/>
              <a:defRPr sz="1425" b="0">
                <a:solidFill>
                  <a:srgbClr val="5965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96579"/>
                </a:solidFill>
                <a:latin typeface="Calibri"/>
                <a:ea typeface="Calibri"/>
                <a:cs typeface="Calibri"/>
              </a:rPr>
              <a:t>완료 기준을 먼저 정하고</a:t>
            </a:r>
          </a:p>
          <a:p xmlns:a="http://schemas.openxmlformats.org/drawingml/2006/main">
            <a:pPr>
              <a:buNone/>
              <a:defRPr sz="1425" b="0">
                <a:solidFill>
                  <a:srgbClr val="5965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96579"/>
                </a:solidFill>
                <a:latin typeface="Calibri"/>
                <a:ea typeface="Calibri"/>
                <a:cs typeface="Calibri"/>
              </a:rPr>
              <a:t>작업 규칙과 확인 절차를 명시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62A416-6D2A-421A-A620-EE29AEC3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71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00A484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0A484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8B3FD1-729E-48BB-85DC-50E1B7E0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527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41A26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41A26"/>
                </a:solidFill>
                <a:latin typeface="Calibri"/>
                <a:ea typeface="Calibri"/>
                <a:cs typeface="Calibri"/>
              </a:rPr>
              <a:t>업무 지식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A9CA4E-B748-4E29-8418-F2D38147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2895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5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96579"/>
                </a:solidFill>
                <a:latin typeface="Calibri"/>
                <a:ea typeface="Calibri"/>
                <a:cs typeface="Calibri"/>
              </a:rPr>
              <a:t>제휴 규격·확인된 오류 사례</a:t>
            </a:r>
          </a:p>
          <a:p xmlns:a="http://schemas.openxmlformats.org/drawingml/2006/main">
            <a:pPr>
              <a:buNone/>
              <a:defRPr sz="1425" b="0">
                <a:solidFill>
                  <a:srgbClr val="5965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96579"/>
                </a:solidFill>
                <a:latin typeface="Calibri"/>
                <a:ea typeface="Calibri"/>
                <a:cs typeface="Calibri"/>
              </a:rPr>
              <a:t>판단 근거를 함께 관리</a:t>
            </a:r>
          </a:p>
          <a:p xmlns:a="http://schemas.openxmlformats.org/drawingml/2006/main">
            <a:pPr>
              <a:buNone/>
              <a:defRPr sz="1425" b="0">
                <a:solidFill>
                  <a:srgbClr val="5965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96579"/>
                </a:solidFill>
                <a:latin typeface="Calibri"/>
                <a:ea typeface="Calibri"/>
                <a:cs typeface="Calibri"/>
              </a:rPr>
              <a:t>다음 분석과 연동에 재사용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E5D065-BEDE-47FB-85AA-B556BF19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71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F1676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16760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1E2E19-0B55-4CF6-B540-34CDE45A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527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41A26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41A26"/>
                </a:solidFill>
                <a:latin typeface="Calibri"/>
                <a:ea typeface="Calibri"/>
                <a:cs typeface="Calibri"/>
              </a:rPr>
              <a:t>작업 기록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5F06C2-800D-409B-947A-A83E1EB1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2895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965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96579"/>
                </a:solidFill>
                <a:latin typeface="Calibri"/>
                <a:ea typeface="Calibri"/>
                <a:cs typeface="Calibri"/>
              </a:rPr>
              <a:t>현재 상태·미확인 사항</a:t>
            </a:r>
          </a:p>
          <a:p xmlns:a="http://schemas.openxmlformats.org/drawingml/2006/main">
            <a:pPr>
              <a:buNone/>
              <a:defRPr sz="1425" b="0">
                <a:solidFill>
                  <a:srgbClr val="5965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96579"/>
                </a:solidFill>
                <a:latin typeface="Calibri"/>
                <a:ea typeface="Calibri"/>
                <a:cs typeface="Calibri"/>
              </a:rPr>
              <a:t>다음 작업을 구분해 기록</a:t>
            </a:r>
          </a:p>
          <a:p xmlns:a="http://schemas.openxmlformats.org/drawingml/2006/main">
            <a:pPr>
              <a:buNone/>
              <a:defRPr sz="1425" b="0">
                <a:solidFill>
                  <a:srgbClr val="5965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96579"/>
                </a:solidFill>
                <a:latin typeface="Calibri"/>
                <a:ea typeface="Calibri"/>
                <a:cs typeface="Calibri"/>
              </a:rPr>
              <a:t>도구·세션 전환 후 이어서 활용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EA48F9-2D24-442C-926F-F87FCBF6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108966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D2B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ED11E6-DB3B-4A64-B63F-2A8E0B4D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공통 맥락 참고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C42C88-F04B-4E38-9E94-B036FD0E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CD3E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CCD3E0"/>
                </a:solidFill>
                <a:latin typeface="Calibri"/>
                <a:ea typeface="Calibri"/>
                <a:cs typeface="Calibri"/>
              </a:rPr>
              <a:t>Codex·Claude Code가</a:t>
            </a:r>
          </a:p>
          <a:p xmlns:a="http://schemas.openxmlformats.org/drawingml/2006/main">
            <a:pPr>
              <a:buNone/>
              <a:defRPr sz="1200" b="0">
                <a:solidFill>
                  <a:srgbClr val="CCD3E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CCD3E0"/>
                </a:solidFill>
                <a:latin typeface="Calibri"/>
                <a:ea typeface="Calibri"/>
                <a:cs typeface="Calibri"/>
              </a:rPr>
              <a:t>지침·지식·기록을 참고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951016-54FB-459C-B3DF-64E93704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57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AI 구현·테스트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92E1A01-2AAE-4415-ABC4-9C7A2B5B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9149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CD3E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CCD3E0"/>
                </a:solidFill>
                <a:latin typeface="Calibri"/>
                <a:ea typeface="Calibri"/>
                <a:cs typeface="Calibri"/>
              </a:rPr>
              <a:t>원인 분석과 코드 구현</a:t>
            </a:r>
          </a:p>
          <a:p xmlns:a="http://schemas.openxmlformats.org/drawingml/2006/main">
            <a:pPr>
              <a:buNone/>
              <a:defRPr sz="1200" b="0">
                <a:solidFill>
                  <a:srgbClr val="CCD3E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CCD3E0"/>
                </a:solidFill>
                <a:latin typeface="Calibri"/>
                <a:ea typeface="Calibri"/>
                <a:cs typeface="Calibri"/>
              </a:rPr>
              <a:t>테스트 작성에 활용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84FB2E0-FF81-43AB-80B6-846BF882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57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42DCB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42DCB8"/>
                </a:solidFill>
                <a:latin typeface="Calibri"/>
                <a:ea typeface="Calibri"/>
                <a:cs typeface="Calibri"/>
              </a:rPr>
              <a:t>3. 개발자 검증·결정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B0F0042-7271-49F1-8208-1F7054AF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149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CD3E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CCD3E0"/>
                </a:solidFill>
                <a:latin typeface="Calibri"/>
                <a:ea typeface="Calibri"/>
                <a:cs typeface="Calibri"/>
              </a:rPr>
              <a:t>코드·테스트와 실제 API·DB 확인</a:t>
            </a:r>
          </a:p>
          <a:p xmlns:a="http://schemas.openxmlformats.org/drawingml/2006/main">
            <a:pPr>
              <a:buNone/>
              <a:defRPr sz="1200" b="0">
                <a:solidFill>
                  <a:srgbClr val="CCD3E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CCD3E0"/>
                </a:solidFill>
                <a:latin typeface="Calibri"/>
                <a:ea typeface="Calibri"/>
                <a:cs typeface="Calibri"/>
              </a:rPr>
              <a:t>업무 규칙·예외 검토 후 반영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57EF07A-6582-41A8-ADB4-77A432CB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57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 확인 결과 반영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8009D47-4CA6-4342-BA05-8DD875D7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9149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CD3E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CCD3E0"/>
                </a:solidFill>
                <a:latin typeface="Calibri"/>
                <a:ea typeface="Calibri"/>
                <a:cs typeface="Calibri"/>
              </a:rPr>
              <a:t>확인된 판단과 오류 사례 중</a:t>
            </a:r>
          </a:p>
          <a:p xmlns:a="http://schemas.openxmlformats.org/drawingml/2006/main">
            <a:pPr>
              <a:buNone/>
              <a:defRPr sz="1200" b="0">
                <a:solidFill>
                  <a:srgbClr val="CCD3E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CCD3E0"/>
                </a:solidFill>
                <a:latin typeface="Calibri"/>
                <a:ea typeface="Calibri"/>
                <a:cs typeface="Calibri"/>
              </a:rPr>
              <a:t>공유 가능한 내용만 기록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9E3B92-9F87-465E-9186-E482B266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48375"/>
            <a:ext cx="1089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9657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96579"/>
                </a:solidFill>
                <a:latin typeface="Calibri"/>
                <a:ea typeface="Calibri"/>
                <a:cs typeface="Calibri"/>
              </a:rPr>
              <a:t>적용 사례: 제휴 연동의 구현·테스트에 활용하고 검증 결과를 하네스에 반영해 재사용</a:t>
            </a:r>
          </a:p>
        </p:txBody>
      </p:sp>
    </p:spTree>
    <p:extLst>
      <p:ext uri="{BB962C8B-B14F-4D97-AF65-F5344CB8AC3E}">
        <p14:creationId xmlns:p14="http://schemas.microsoft.com/office/powerpoint/2010/main" val="1232520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E72572-3A3B-48E0-86E5-1646E636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157FF"/>
                </a:solidFill>
              </a:defRPr>
            </a:pPr>
            <a:r>
              <a:rPr sz="975" b="1" i="0">
                <a:solidFill>
                  <a:srgbClr val="3157FF"/>
                </a:solidFill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EB5A07-B476-4D82-8DB5-550F93DD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BA14E-08CC-4A5C-9AF1-CF3507C0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1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B6472"/>
                </a:solidFill>
              </a:defRPr>
            </a:pPr>
            <a:r>
              <a:rPr sz="975" b="1" i="0">
                <a:solidFill>
                  <a:srgbClr val="5B6472"/>
                </a:solidFill>
              </a:rPr>
              <a:t>SELECTED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2EB22-0E6D-4AAF-8E1C-993B27C7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21722"/>
                </a:solidFill>
              </a:defRPr>
            </a:pPr>
            <a:r>
              <a:rPr sz="2700" b="1" i="0">
                <a:solidFill>
                  <a:srgbClr val="121722"/>
                </a:solidFill>
              </a:rPr>
              <a:t>프로젝트별 핵심 기여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90769-7EA2-4833-8CF5-7B6C50C9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대표 프로젝트에서 맡은 책임과 구현 결과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0682B-6335-485F-9B9C-7EAA2683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9AA3B2"/>
                </a:solidFill>
              </a:defRPr>
            </a:pPr>
            <a:r>
              <a:rPr sz="825" b="1" i="0">
                <a:solidFill>
                  <a:srgbClr val="9AA3B2"/>
                </a:solidFill>
              </a:rPr>
              <a:t>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E959B-EA2B-458D-922E-6BA75C79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002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9AA3B2"/>
                </a:solidFill>
              </a:defRPr>
            </a:pPr>
            <a:r>
              <a:rPr sz="825" b="1" i="0">
                <a:solidFill>
                  <a:srgbClr val="9AA3B2"/>
                </a:solidFill>
              </a:rPr>
              <a:t>판단·책임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074941-7D66-4A4E-81F2-0A0FF4E3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9AA3B2"/>
                </a:solidFill>
              </a:defRPr>
            </a:pPr>
            <a:r>
              <a:rPr sz="825" b="1" i="0">
                <a:solidFill>
                  <a:srgbClr val="9AA3B2"/>
                </a:solidFill>
              </a:rPr>
              <a:t>구현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597217-3E73-4CCE-8661-77A0811D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A0254E-4D2E-4A46-9ECF-E39F1691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157FF"/>
                </a:solidFill>
              </a:defRPr>
            </a:pPr>
            <a:r>
              <a:rPr sz="1350" b="1" i="0">
                <a:solidFill>
                  <a:srgbClr val="3157FF"/>
                </a:solidFill>
              </a:rPr>
              <a:t>여행·레저 제휴 연동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284082-F722-49E5-B374-21467C34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B6472"/>
                </a:solidFill>
              </a:defRPr>
            </a:pPr>
            <a:r>
              <a:rPr sz="1425" b="0" i="0">
                <a:solidFill>
                  <a:srgbClr val="5B6472"/>
                </a:solidFill>
              </a:rPr>
              <a:t>기존 동기 흐름을 유지하며</a:t>
            </a:r>
            <a:br/>
            <a:r>
              <a:rPr sz="1425" b="0" i="0">
                <a:solidFill>
                  <a:srgbClr val="5B6472"/>
                </a:solidFill>
              </a:rPr>
              <a:t>주문 저장과 후속 처리의 경계 분리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C3EAF9-9704-4321-9331-B03904B5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21722"/>
                </a:solidFill>
              </a:defRPr>
            </a:pPr>
            <a:r>
              <a:rPr sz="1425" b="1" i="0">
                <a:solidFill>
                  <a:srgbClr val="121722"/>
                </a:solidFill>
              </a:rPr>
              <a:t>주문 트랜잭션 보호와</a:t>
            </a:r>
            <a:br/>
            <a:r>
              <a:rPr sz="1425" b="1" i="0">
                <a:solidFill>
                  <a:srgbClr val="121722"/>
                </a:solidFill>
              </a:rPr>
              <a:t>제휴 응답 예외 격리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7A27B1-3D85-4C47-AFC1-71716B4F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782DD-0FE6-4E08-93C0-29E61771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671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1722"/>
                </a:solidFill>
              </a:defRPr>
            </a:pPr>
            <a:r>
              <a:rPr sz="1350" b="1" i="0">
                <a:solidFill>
                  <a:srgbClr val="121722"/>
                </a:solidFill>
              </a:rPr>
              <a:t>KTO 휴가샵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CEB044-73EC-465E-942A-60F67242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671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B6472"/>
                </a:solidFill>
              </a:defRPr>
            </a:pPr>
            <a:r>
              <a:rPr sz="1425" b="0" i="0">
                <a:solidFill>
                  <a:srgbClr val="5B6472"/>
                </a:solidFill>
              </a:rPr>
              <a:t>재원별 포인트 기준을</a:t>
            </a:r>
            <a:br/>
            <a:r>
              <a:rPr sz="1425" b="0" i="0">
                <a:solidFill>
                  <a:srgbClr val="5B6472"/>
                </a:solidFill>
              </a:rPr>
              <a:t>주문·사용내역·통계에 일관되게 반영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2E0A22-6930-4426-A9AA-057E25F0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6710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21722"/>
                </a:solidFill>
              </a:defRPr>
            </a:pPr>
            <a:r>
              <a:rPr sz="1425" b="1" i="0">
                <a:solidFill>
                  <a:srgbClr val="121722"/>
                </a:solidFill>
              </a:rPr>
              <a:t>재원별 통계 조회·엑셀 출력과</a:t>
            </a:r>
            <a:br/>
            <a:r>
              <a:rPr sz="1425" b="1" i="0">
                <a:solidFill>
                  <a:srgbClr val="121722"/>
                </a:solidFill>
              </a:rPr>
              <a:t>운영자 대량 처리 기능 구현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EBF347-2115-43A5-B9E7-E2DA6C9C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A38828-D820-4ADE-BE07-F56E0C78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1722"/>
                </a:solidFill>
              </a:defRPr>
            </a:pPr>
            <a:r>
              <a:rPr sz="1350" b="1" i="0">
                <a:solidFill>
                  <a:srgbClr val="121722"/>
                </a:solidFill>
              </a:rPr>
              <a:t>Benepia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10A8FD-6D45-4321-B6B0-A6FB0B6A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624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B6472"/>
                </a:solidFill>
              </a:defRPr>
            </a:pPr>
            <a:r>
              <a:rPr sz="1425" b="0" i="0">
                <a:solidFill>
                  <a:srgbClr val="5B6472"/>
                </a:solidFill>
              </a:rPr>
              <a:t>공통 플랫폼의 영향을 고려해</a:t>
            </a:r>
            <a:br/>
            <a:r>
              <a:rPr sz="1425" b="0" i="0">
                <a:solidFill>
                  <a:srgbClr val="5B6472"/>
                </a:solidFill>
              </a:rPr>
              <a:t>고객사별 신청 정책·이력 처리 구현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98A629-C973-468A-8AC4-21A51A1A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21722"/>
                </a:solidFill>
              </a:defRPr>
            </a:pPr>
            <a:r>
              <a:rPr sz="1425" b="1" i="0">
                <a:solidFill>
                  <a:srgbClr val="121722"/>
                </a:solidFill>
              </a:rPr>
              <a:t>신청 조건·변경 이력 관리와</a:t>
            </a:r>
            <a:br/>
            <a:r>
              <a:rPr sz="1425" b="1" i="0">
                <a:solidFill>
                  <a:srgbClr val="121722"/>
                </a:solidFill>
              </a:rPr>
              <a:t>민감정보 마스킹 기능 반영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D1B8C6-8D64-4E10-ACE5-A5FEF84C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52158C-DBD7-4C40-B618-0CC2EABE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1722"/>
                </a:solidFill>
              </a:defRPr>
            </a:pPr>
            <a:r>
              <a:rPr sz="1350" b="1" i="0">
                <a:solidFill>
                  <a:srgbClr val="121722"/>
                </a:solidFill>
              </a:rPr>
              <a:t>여행 AI Q&amp;A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EFC246-97D2-456D-A355-28543B76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2578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B6472"/>
                </a:solidFill>
              </a:defRPr>
            </a:pPr>
            <a:r>
              <a:rPr sz="1425" b="0" i="0">
                <a:solidFill>
                  <a:srgbClr val="5B6472"/>
                </a:solidFill>
              </a:rPr>
              <a:t>Python 배포 선례가 없는 환경에서</a:t>
            </a:r>
            <a:br/>
            <a:r>
              <a:rPr sz="1425" b="0" i="0">
                <a:solidFill>
                  <a:srgbClr val="5B6472"/>
                </a:solidFill>
              </a:rPr>
              <a:t>API 설계·구현과 배포 검증 주도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31369D-6F0B-4A97-AD37-7458EF35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5780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21722"/>
                </a:solidFill>
              </a:defRPr>
            </a:pPr>
            <a:r>
              <a:rPr sz="1425" b="1" i="0">
                <a:solidFill>
                  <a:srgbClr val="121722"/>
                </a:solidFill>
              </a:rPr>
              <a:t>독립 여행 AI API와</a:t>
            </a:r>
            <a:br/>
            <a:r>
              <a:rPr sz="1425" b="1" i="0">
                <a:solidFill>
                  <a:srgbClr val="121722"/>
                </a:solidFill>
              </a:rPr>
              <a:t>Docker 기반 배포 구성 마련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CB6F54-66AE-4D7E-AA54-E8009B6E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341FAF-1049-46E5-A6CD-89448500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CAD7F5-49E9-495B-AE1E-772328A8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9AA3B2"/>
                </a:solidFill>
              </a:defRPr>
            </a:pPr>
            <a:r>
              <a:rPr sz="675" b="1" i="0">
                <a:solidFill>
                  <a:srgbClr val="9AA3B2"/>
                </a:solidFill>
              </a:rPr>
              <a:t>HEETAE LEE  /  BACKEND ENGINEER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561E52-6E15-41BC-81E3-00AA1C23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9AA3B2"/>
                </a:solidFill>
              </a:defRPr>
            </a:pPr>
            <a:r>
              <a:rPr sz="750" b="1" i="0">
                <a:solidFill>
                  <a:srgbClr val="9AA3B2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820838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9F02F3-CF25-4B23-8E8D-8EB8A41B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49495-8D24-4346-A226-0264F21A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157FF"/>
                </a:solidFill>
              </a:defRPr>
            </a:pPr>
            <a:r>
              <a:rPr sz="975" b="1" i="0">
                <a:solidFill>
                  <a:srgbClr val="3157FF"/>
                </a:solidFill>
              </a:rPr>
              <a:t>HEETAE LEE  /  BACKEND ENGINEER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1BFBA-BCAA-4AEA-8FC7-48FF8366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71247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21722"/>
                </a:solidFill>
              </a:defRPr>
            </a:pPr>
            <a:r>
              <a:rPr sz="3600" b="1" i="0">
                <a:solidFill>
                  <a:srgbClr val="121722"/>
                </a:solidFill>
              </a:rPr>
              <a:t>Heetae Lee</a:t>
            </a:r>
          </a:p>
          <a:p xmlns:a="http://schemas.openxmlformats.org/drawingml/2006/main">
            <a:pPr algn="l">
              <a:buNone/>
              <a:defRPr sz="3450" b="1" i="0">
                <a:solidFill>
                  <a:srgbClr val="121722"/>
                </a:solidFill>
              </a:defRPr>
            </a:pPr>
            <a:r>
              <a:rPr sz="3600" b="1" i="0">
                <a:solidFill>
                  <a:srgbClr val="121722"/>
                </a:solidFill>
              </a:rPr>
              <a:t>Backend Engineer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48336-3D1D-4591-8C76-08785B88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3157FF"/>
                </a:solidFill>
              </a:defRPr>
            </a:pPr>
            <a:r>
              <a:rPr sz="1875" b="1" i="0">
                <a:solidFill>
                  <a:srgbClr val="3157FF"/>
                </a:solidFill>
              </a:rPr>
              <a:t>프로젝트 상세와 경력 정보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0FA24-1231-4498-BE19-CD580BB6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F82941-5254-4AA0-8246-CA754368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AA3B2"/>
                </a:solidFill>
              </a:defRPr>
            </a:pPr>
            <a:r>
              <a:rPr sz="900" b="1" i="0">
                <a:solidFill>
                  <a:srgbClr val="9AA3B2"/>
                </a:solidFill>
              </a:rPr>
              <a:t>Portfolio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E519D2-6E37-4020-AB56-F965FCDB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959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21722"/>
                </a:solidFill>
              </a:defRPr>
            </a:pPr>
            <a:r>
              <a:rPr sz="1200" b="0" i="0">
                <a:solidFill>
                  <a:srgbClr val="121722"/>
                </a:solidFill>
              </a:rPr>
              <a:t>https://heetae-l.github.io/ko/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F9CEC-8D44-403D-8384-7793CC5C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0"/>
            <a:ext cx="403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CA583A-448C-4ED8-9673-BF247429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9545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PORTFOLIO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B758D4-62BA-4D08-831A-6C629B7E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241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AF3174-20DE-4024-A9DB-4E142DD1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0101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9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8110F1-DDC2-41B4-8F93-9483677C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3340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8993A7"/>
                </a:solidFill>
              </a:defRPr>
            </a:pPr>
            <a:r>
              <a:rPr sz="900" b="1" i="0">
                <a:solidFill>
                  <a:srgbClr val="8993A7"/>
                </a:solidFill>
              </a:rPr>
              <a:t>BACKEND ENGINEER</a:t>
            </a:r>
          </a:p>
        </p:txBody>
      </p:sp>
    </p:spTree>
    <p:extLst>
      <p:ext uri="{BB962C8B-B14F-4D97-AF65-F5344CB8AC3E}">
        <p14:creationId xmlns:p14="http://schemas.microsoft.com/office/powerpoint/2010/main" val="11700820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2026-10-25T13:17:50.2700000Z</dcterms:created>
  <dcterms:modified xsi:type="dcterms:W3CDTF">2026-10-25T13:17:50.2700000Z</dcterms:modified>
</coreProperties>
</file>